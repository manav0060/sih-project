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194560" cy="9412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2743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5B94"/>
                </a:solidFill>
              </a:defRPr>
            </a:pPr>
            <a:r>
              <a:t>Team Mindsmiths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256032"/>
            <a:ext cx="6309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5B94"/>
                </a:solidFill>
              </a:defRPr>
            </a:pPr>
            <a:r>
              <a:t>SMART INDIA HACKATHON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728655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1072865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0F172A"/>
                </a:solidFill>
              </a:defRPr>
            </a:pPr>
            <a:r>
              <a:t>Adaptive Variable Resolution 2.5D Lidar Mapping for Dynamic Environment Perception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73152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100"/>
              </a:spcAft>
            </a:pPr>
            <a:r>
              <a:rPr b="1" sz="1550">
                <a:solidFill>
                  <a:srgbClr val="0F172A"/>
                </a:solidFill>
              </a:rPr>
              <a:t>• Problem Statement ID – </a:t>
            </a:r>
            <a:r>
              <a:rPr b="0" sz="1550">
                <a:solidFill>
                  <a:srgbClr val="005B94"/>
                </a:solidFill>
              </a:rPr>
              <a:t>SIH26053</a:t>
            </a:r>
          </a:p>
          <a:p>
            <a:pPr>
              <a:spcAft>
                <a:spcPts val="1100"/>
              </a:spcAft>
            </a:pPr>
            <a:r>
              <a:rPr b="1" sz="1550">
                <a:solidFill>
                  <a:srgbClr val="0F172A"/>
                </a:solidFill>
              </a:rPr>
              <a:t>• Problem Statement Title – </a:t>
            </a:r>
            <a:r>
              <a:rPr b="0" sz="1550">
                <a:solidFill>
                  <a:srgbClr val="0F172A"/>
                </a:solidFill>
              </a:rPr>
              <a:t>Adaptive Variable Resolution 2.5D Lidar Mapping for Dynamic Environment Perception</a:t>
            </a:r>
          </a:p>
          <a:p>
            <a:pPr>
              <a:spcAft>
                <a:spcPts val="1100"/>
              </a:spcAft>
            </a:pPr>
            <a:r>
              <a:rPr b="1" sz="1550">
                <a:solidFill>
                  <a:srgbClr val="0F172A"/>
                </a:solidFill>
              </a:rPr>
              <a:t>• Ministry / Organization – </a:t>
            </a:r>
            <a:r>
              <a:rPr b="0" sz="1550">
                <a:solidFill>
                  <a:srgbClr val="005B94"/>
                </a:solidFill>
              </a:rPr>
              <a:t>Defence Research and Development Organisation (DRDO)</a:t>
            </a:r>
          </a:p>
          <a:p>
            <a:pPr>
              <a:spcAft>
                <a:spcPts val="1100"/>
              </a:spcAft>
            </a:pPr>
            <a:r>
              <a:rPr b="1" sz="1550">
                <a:solidFill>
                  <a:srgbClr val="0F172A"/>
                </a:solidFill>
              </a:rPr>
              <a:t>• Theme – </a:t>
            </a:r>
            <a:r>
              <a:rPr b="0" sz="1550">
                <a:solidFill>
                  <a:srgbClr val="0F172A"/>
                </a:solidFill>
              </a:rPr>
              <a:t>Smart Vehicles</a:t>
            </a:r>
          </a:p>
          <a:p>
            <a:pPr>
              <a:spcAft>
                <a:spcPts val="1100"/>
              </a:spcAft>
            </a:pPr>
            <a:r>
              <a:rPr b="1" sz="1550">
                <a:solidFill>
                  <a:srgbClr val="0F172A"/>
                </a:solidFill>
              </a:rPr>
              <a:t>• PS Category – </a:t>
            </a:r>
            <a:r>
              <a:rPr b="0" sz="1550">
                <a:solidFill>
                  <a:srgbClr val="0F172A"/>
                </a:solidFill>
              </a:rPr>
              <a:t>Software Edition</a:t>
            </a:r>
          </a:p>
          <a:p>
            <a:pPr>
              <a:spcAft>
                <a:spcPts val="1100"/>
              </a:spcAft>
            </a:pPr>
            <a:r>
              <a:rPr b="1" sz="1550">
                <a:solidFill>
                  <a:srgbClr val="0F172A"/>
                </a:solidFill>
              </a:rPr>
              <a:t>• Team Name (Registered on portal) – </a:t>
            </a:r>
            <a:r>
              <a:rPr b="0" sz="1550">
                <a:solidFill>
                  <a:srgbClr val="005B94"/>
                </a:solidFill>
              </a:rPr>
              <a:t>Mindsmiths</a:t>
            </a:r>
          </a:p>
          <a:p>
            <a:pPr>
              <a:spcAft>
                <a:spcPts val="1100"/>
              </a:spcAft>
            </a:pPr>
            <a:r>
              <a:rPr b="1" sz="1550">
                <a:solidFill>
                  <a:srgbClr val="0F172A"/>
                </a:solidFill>
              </a:rPr>
              <a:t>• Target System – </a:t>
            </a:r>
            <a:r>
              <a:rPr b="0" sz="1550">
                <a:solidFill>
                  <a:srgbClr val="0F172A"/>
                </a:solidFill>
              </a:rPr>
              <a:t>Autonomous Ground Vehicles (AGVs) &amp; Tactical Unmanned Rovers</a:t>
            </a:r>
          </a:p>
        </p:txBody>
      </p:sp>
      <p:pic>
        <p:nvPicPr>
          <p:cNvPr id="8" name="Picture 7" descr="sih_bulb_hd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103120"/>
            <a:ext cx="3383280" cy="389271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6473952"/>
            <a:ext cx="670529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914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8961120" cy="548640"/>
          </a:xfrm>
          <a:prstGeom prst="round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0" bIns="0"/>
          <a:lstStyle/>
          <a:p>
            <a:pPr algn="l">
              <a:defRPr sz="2100" b="1">
                <a:solidFill>
                  <a:srgbClr val="FFFFFF"/>
                </a:solidFill>
              </a:defRPr>
            </a:pPr>
            <a:r>
              <a:t>PROPOSED SOLUTION</a:t>
            </a:r>
          </a:p>
        </p:txBody>
      </p:sp>
      <p:pic>
        <p:nvPicPr>
          <p:cNvPr id="3" name="Picture 2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1920240" cy="8236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82296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2410C"/>
                </a:solidFill>
              </a:defRPr>
            </a:pPr>
            <a:r>
              <a:t>Problem at Hand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91840" cy="118872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200">
                <a:solidFill>
                  <a:srgbClr val="0F172A"/>
                </a:solidFill>
              </a:rPr>
              <a:t>Compute Bottleneck: </a:t>
            </a:r>
            <a:r>
              <a:rPr sz="1100">
                <a:solidFill>
                  <a:srgbClr val="0F172A"/>
                </a:solidFill>
              </a:rPr>
              <a:t>Raw 3D point clouds (&gt;1.5M pts/sec) choke embedded compute on edge platforms, inducing &gt;120ms latency.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3291840" cy="1188720"/>
          </a:xfrm>
          <a:prstGeom prst="roundRect">
            <a:avLst/>
          </a:prstGeom>
          <a:solidFill>
            <a:srgbClr val="FEE2E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200">
                <a:solidFill>
                  <a:srgbClr val="0F172A"/>
                </a:solidFill>
              </a:rPr>
              <a:t>2D Blindness: </a:t>
            </a:r>
            <a:r>
              <a:rPr sz="1100">
                <a:solidFill>
                  <a:srgbClr val="0F172A"/>
                </a:solidFill>
              </a:rPr>
              <a:t>Standard flat 2D costmaps collapse height, missing curbs, potholes, drop-offs, and overhanging hazards.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39"/>
            <a:ext cx="3291840" cy="1188720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200">
                <a:solidFill>
                  <a:srgbClr val="0F172A"/>
                </a:solidFill>
              </a:rPr>
              <a:t>Memory Overhead: </a:t>
            </a:r>
            <a:r>
              <a:rPr sz="1100">
                <a:solidFill>
                  <a:srgbClr val="0F172A"/>
                </a:solidFill>
              </a:rPr>
              <a:t>Uniform 3D voxelization (OctoMap) consumes &gt;500MB RAM, causing frame buffer starvation on tactical rovers.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29200"/>
            <a:ext cx="3291840" cy="118872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200">
                <a:solidFill>
                  <a:srgbClr val="0F172A"/>
                </a:solidFill>
              </a:rPr>
              <a:t>Dynamic Obstacle Smear: </a:t>
            </a:r>
            <a:r>
              <a:rPr sz="1100">
                <a:solidFill>
                  <a:srgbClr val="0F172A"/>
                </a:solidFill>
              </a:rPr>
              <a:t>Moving entities leave phantom trails, corrupting global obstacle maps and triggering emergency stops.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822960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7846"/>
                </a:solidFill>
              </a:defRPr>
            </a:pPr>
            <a:r>
              <a:t>Our Solution: FOVEA-MAP 2.5D Engine</a:t>
            </a:r>
          </a:p>
        </p:txBody>
      </p:sp>
      <p:pic>
        <p:nvPicPr>
          <p:cNvPr id="10" name="Picture 9" descr="lidar_slide2_foveated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188720"/>
            <a:ext cx="4663440" cy="30632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023360" y="4389120"/>
            <a:ext cx="4663440" cy="1874519"/>
          </a:xfrm>
          <a:prstGeom prst="roundRect">
            <a:avLst/>
          </a:prstGeom>
          <a:solidFill>
            <a:srgbClr val="FE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ctr">
              <a:spcAft>
                <a:spcPts val="400"/>
              </a:spcAft>
              <a:defRPr b="1" sz="1400">
                <a:solidFill>
                  <a:srgbClr val="C2410C"/>
                </a:solidFill>
              </a:defRPr>
            </a:pPr>
            <a:r>
              <a:t>Why We Stand Out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</a:defRPr>
            </a:pPr>
            <a:r>
              <a:t>• Adaptive Foveated Acuity: 5cm cells in reactive zone (0-10m), 20cm mid-range, 50cm horizon.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</a:defRPr>
            </a:pPr>
            <a:r>
              <a:t>• Full Negative &amp; Positive Hazard Detection: Dedicated Z_min &amp; slope channels detect potholes.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</a:defRPr>
            </a:pPr>
            <a:r>
              <a:t>• Real-Time Edge Efficiency: &gt;50 FPS (&lt;20ms latency) on NVIDIA Jetson Orin under 15W SWaP.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82296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5B94"/>
                </a:solidFill>
              </a:defRPr>
            </a:pPr>
            <a:r>
              <a:t>Key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1188720"/>
            <a:ext cx="2743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150">
                <a:solidFill>
                  <a:srgbClr val="005B94"/>
                </a:solidFill>
              </a:defRPr>
            </a:pPr>
            <a:r>
              <a:t>⚡ Foveated Concentric Grid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5cm to 50cm dynamic scaling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2039112"/>
            <a:ext cx="2743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150">
                <a:solidFill>
                  <a:srgbClr val="005B94"/>
                </a:solidFill>
              </a:defRPr>
            </a:pPr>
            <a:r>
              <a:t>⚡ Multi-Layer Elevation Tensor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Stores Z_ground, Z_max, Z_min, roughness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889504"/>
            <a:ext cx="2743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150">
                <a:solidFill>
                  <a:srgbClr val="005B94"/>
                </a:solidFill>
              </a:defRPr>
            </a:pPr>
            <a:r>
              <a:t>⚡ Patchwork++ Ground Inliers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Fast ground isolation on non-flat terrain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0" y="3739896"/>
            <a:ext cx="2743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150">
                <a:solidFill>
                  <a:srgbClr val="005B94"/>
                </a:solidFill>
              </a:defRPr>
            </a:pPr>
            <a:r>
              <a:t>⚡ Ghost-Free Dynamic Filter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Purges moving target smear in 2 cycles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4590288"/>
            <a:ext cx="2743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150">
                <a:solidFill>
                  <a:srgbClr val="005B94"/>
                </a:solidFill>
              </a:defRPr>
            </a:pPr>
            <a:r>
              <a:t>⚡ Negative Hazard Channel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Detects potholes, trenches &amp; drop-offs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5440679"/>
            <a:ext cx="2743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150">
                <a:solidFill>
                  <a:srgbClr val="005B94"/>
                </a:solidFill>
              </a:defRPr>
            </a:pPr>
            <a:r>
              <a:t>⚡ ROS2 / Autoware Native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Standard /costmap_2d plug-and-play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0" y="6473952"/>
            <a:ext cx="670529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914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8961120" cy="548640"/>
          </a:xfrm>
          <a:prstGeom prst="round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0" bIns="0"/>
          <a:lstStyle/>
          <a:p>
            <a:pPr algn="l">
              <a:defRPr sz="2100" b="1">
                <a:solidFill>
                  <a:srgbClr val="FFFFFF"/>
                </a:solidFill>
              </a:defRPr>
            </a:pPr>
            <a:r>
              <a:t>TECHNICAL APPROACH</a:t>
            </a:r>
          </a:p>
        </p:txBody>
      </p:sp>
      <p:pic>
        <p:nvPicPr>
          <p:cNvPr id="3" name="Picture 2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1920240" cy="823629"/>
          </a:xfrm>
          <a:prstGeom prst="rect">
            <a:avLst/>
          </a:prstGeom>
        </p:spPr>
      </p:pic>
      <p:pic>
        <p:nvPicPr>
          <p:cNvPr id="4" name="Picture 3" descr="lidar_slide3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868680"/>
            <a:ext cx="10698480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553712"/>
            <a:ext cx="2029968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300"/>
              </a:spcAft>
              <a:defRPr b="1" sz="1200">
                <a:solidFill>
                  <a:srgbClr val="0F172A"/>
                </a:solidFill>
              </a:defRPr>
            </a:pPr>
            <a:r>
              <a:t>1. Input &amp; Grounding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Raw 128-beam 3D LiDAR point cloud @ 20Hz. Patchwork++ cylindrical RANSAC isolates ground plane in 3.4ms.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98648" y="4553712"/>
            <a:ext cx="2029968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300"/>
              </a:spcAft>
              <a:defRPr b="1" sz="1200">
                <a:solidFill>
                  <a:srgbClr val="005B94"/>
                </a:solidFill>
              </a:defRPr>
            </a:pPr>
            <a:r>
              <a:t>2. Foveated Tessellation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Concentric distance binning: Zone A (5cm, 0-10m), Zone B (20cm, 10-35m), Zone C (50cm). &gt;85% RAM saved.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5776" y="4553712"/>
            <a:ext cx="2029968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300"/>
              </a:spcAft>
              <a:defRPr b="1" sz="1200">
                <a:solidFill>
                  <a:srgbClr val="0284C7"/>
                </a:solidFill>
              </a:defRPr>
            </a:pPr>
            <a:r>
              <a:t>3. 2.5D Elevation Tensor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Stores Z_max, Z_min, roughness σ_z², and normal vector n. Directly determines slope angle and obstacle height.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32904" y="4553712"/>
            <a:ext cx="2029968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300"/>
              </a:spcAft>
              <a:defRPr b="1" sz="1200">
                <a:solidFill>
                  <a:srgbClr val="7C3AED"/>
                </a:solidFill>
              </a:defRPr>
            </a:pPr>
            <a:r>
              <a:t>4. Deep Semantic Inference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Sparse Polar CNN with TensorRT INT8 quantization. Predicts dynamic obstacles and terrain masks in 14.2ms (&lt;15W SWaP).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00032" y="4553712"/>
            <a:ext cx="2029968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300"/>
              </a:spcAft>
              <a:defRPr b="1" sz="1200">
                <a:solidFill>
                  <a:srgbClr val="059669"/>
                </a:solidFill>
              </a:defRPr>
            </a:pPr>
            <a:r>
              <a:t>5. Bayesian Tracking &amp; ROS2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Recursive log-odds evidence update + Kalman filter velocity estimation purges ghost trails. Publishes /costmap_2d.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6473952"/>
            <a:ext cx="670529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914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8961120" cy="548640"/>
          </a:xfrm>
          <a:prstGeom prst="round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0" bIns="0"/>
          <a:lstStyle/>
          <a:p>
            <a:pPr algn="l">
              <a:defRPr sz="2100" b="1">
                <a:solidFill>
                  <a:srgbClr val="FFFFFF"/>
                </a:solidFill>
              </a:defRPr>
            </a:pPr>
            <a:r>
              <a:t>FEASIBILITY AND VIABILITY</a:t>
            </a:r>
          </a:p>
        </p:txBody>
      </p:sp>
      <p:pic>
        <p:nvPicPr>
          <p:cNvPr id="3" name="Picture 2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1920240" cy="82362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868680"/>
            <a:ext cx="2560320" cy="2560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400">
                <a:solidFill>
                  <a:srgbClr val="C2410C"/>
                </a:solidFill>
              </a:defRPr>
            </a:pPr>
            <a:r>
              <a:t>Technical Feasibility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Commercially Proven Stack: Built with ROS2 Humble, CUDA 12, TensorRT INT8, and standard C++20.</a:t>
            </a:r>
            <a:br/>
            <a:r>
              <a:t>• Open Sensor Compatibility: Plug-and-play with Velodyne, Ouster, Hesai, and RoboSense LiDARs.</a:t>
            </a:r>
            <a:br/>
            <a:r>
              <a:t>• Edge-Verified: Validated on NVIDIA Jetson Orin Nano (8GB) under 15W power constraints.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566160"/>
            <a:ext cx="2560320" cy="2697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400">
                <a:solidFill>
                  <a:srgbClr val="C2410C"/>
                </a:solidFill>
              </a:defRPr>
            </a:pPr>
            <a:r>
              <a:t>Operational &amp; Environmental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All-Weather Tactical Readiness: Operates in total darkness, dense smoke, dust, and rain with zero optical light dependency.</a:t>
            </a:r>
            <a:br/>
            <a:r>
              <a:t>• GPS-Denied Autonomous Operation: Tightly coupled with wheel odometry and IMU.</a:t>
            </a:r>
            <a:br/>
            <a:r>
              <a:t>• Negative Obstacle Safety: Prevents chassis ditch rollovers and axle fractures.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86868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005B94"/>
                </a:solidFill>
              </a:defRPr>
            </a:pPr>
            <a:r>
              <a:t>Benchmark Performance Comparison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91840" y="1188720"/>
          <a:ext cx="54864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188720"/>
                <a:gridCol w="1188720"/>
                <a:gridCol w="1188720"/>
              </a:tblGrid>
              <a:tr h="373380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Flat 2D Costmap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3D Voxel (OctoMap)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FOVEA-MAP (Ours)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Processing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6"/>
                          </a:solidFill>
                        </a:defRPr>
                      </a:pPr>
                      <a:r>
                        <a:t>16.4 ms (61 FPS)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Memory Footprint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18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540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6"/>
                          </a:solidFill>
                        </a:defRPr>
                      </a:pPr>
                      <a:r>
                        <a:t>38 MB (&gt;88% saved)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Negative Obstacles (Potholes)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Lost / Invisible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Partially Lost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6"/>
                          </a:solidFill>
                        </a:defRPr>
                      </a:pPr>
                      <a:r>
                        <a:t>100% Detected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Curbs &amp; Step Obstacles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Ignored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Noisy / High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6"/>
                          </a:solidFill>
                        </a:defRPr>
                      </a:pPr>
                      <a:r>
                        <a:t>5cm Sharp Edge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Moving Target Ghost Trails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Severe Smear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Severe Smear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6"/>
                          </a:solidFill>
                        </a:defRPr>
                      </a:pPr>
                      <a:r>
                        <a:t>Purged in 2 Cycles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91840" y="35661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005B94"/>
                </a:solidFill>
              </a:defRPr>
            </a:pPr>
            <a:r>
              <a:t>Development &amp; Implementation Roadmap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91840" y="38862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301752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Phase &amp; Focus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Timeline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Core Deliverable &amp; Milestone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Phase 1: Lab 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Month 1–3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Algorithm optimization, CUDA kernels &amp; TensorRT INT8 model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Phase 2: Hardware-in-Loop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Month 4–6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Jetson Orin Nano + Ouster OS1-64 integration on tactical rover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Phase 3: Off-Road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Month 7–9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Dynamic obstacle tracking &amp; negative ditch navigation trials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Phase 4: DRDO AGV Fleet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Month 10–12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Full Autoware/ROS2 stack deployment for autonomous defense AGVs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961120" y="868680"/>
            <a:ext cx="2651760" cy="2560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400">
                <a:solidFill>
                  <a:srgbClr val="005B94"/>
                </a:solidFill>
              </a:defRPr>
            </a:pPr>
            <a:r>
              <a:t>Safety &amp; Maintainability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Zero Memory Leaks: Deterministic memory allocation with zero dynamic heap allocations in inner loop.</a:t>
            </a:r>
            <a:br/>
            <a:r>
              <a:t>• Fault-Tolerant Watchdogs: Sensor dropout detection with graceful fallback to last valid occupancy tensor.</a:t>
            </a:r>
            <a:br/>
            <a:r>
              <a:t>• MISRA C++ Compliant: Production-grade embedded robotics safety.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3566160"/>
            <a:ext cx="2651760" cy="2697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400">
                <a:solidFill>
                  <a:srgbClr val="005B94"/>
                </a:solidFill>
              </a:defRPr>
            </a:pPr>
            <a:r>
              <a:t>Atmanirbhar Bharat Strategic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100% Indigenous Software: Zero dependence on proprietary foreign perception engines.</a:t>
            </a:r>
            <a:br/>
            <a:r>
              <a:t>• Slashes Hardware Import Costs: Achieves server-grade perception on low-cost $499 edge kits instead of $5,000 GPU rigs.</a:t>
            </a:r>
            <a:br/>
            <a:r>
              <a:t>• Direct DRDO Tactical Fit: Ready for DAKSH, WHEELED AGVs, and border rovers.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6473952"/>
            <a:ext cx="670529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73952"/>
            <a:ext cx="914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8961120" cy="548640"/>
          </a:xfrm>
          <a:prstGeom prst="round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0" bIns="0"/>
          <a:lstStyle/>
          <a:p>
            <a:pPr algn="l">
              <a:defRPr sz="2100" b="1">
                <a:solidFill>
                  <a:srgbClr val="FFFFFF"/>
                </a:solidFill>
              </a:defRPr>
            </a:pPr>
            <a:r>
              <a:t>IMPACT AND BENEFITS</a:t>
            </a:r>
          </a:p>
        </p:txBody>
      </p:sp>
      <p:pic>
        <p:nvPicPr>
          <p:cNvPr id="3" name="Picture 2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1920240" cy="82362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2148840" y="1783080"/>
            <a:ext cx="2468880" cy="2468880"/>
          </a:xfrm>
          <a:prstGeom prst="ellipse">
            <a:avLst/>
          </a:prstGeom>
          <a:solidFill>
            <a:srgbClr val="F97316"/>
          </a:solidFill>
          <a:ln w="254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Potential Impact on Targeted Audience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05840"/>
            <a:ext cx="246888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b="1" sz="1200">
                <a:solidFill>
                  <a:srgbClr val="005B94"/>
                </a:solidFill>
              </a:defRPr>
            </a:pPr>
            <a:r>
              <a:t>🎯 Armed Forces &amp; DRDO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Autonomous reconnaissance, perimeter surveillance, and border casualty evacuation in high-risk conflict zones.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005840"/>
            <a:ext cx="246888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b="1" sz="1200">
                <a:solidFill>
                  <a:srgbClr val="005B94"/>
                </a:solidFill>
              </a:defRPr>
            </a:pPr>
            <a:r>
              <a:t>🎯 Autonomous AGVs &amp; Shuttles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Low-cost high-speed navigation for urban smart transit, autonomous logistics, and industrial delivery.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206240"/>
            <a:ext cx="246888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b="1" sz="1200">
                <a:solidFill>
                  <a:srgbClr val="005B94"/>
                </a:solidFill>
              </a:defRPr>
            </a:pPr>
            <a:r>
              <a:t>🎯 Disaster Search &amp; Rescue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Reliable obstacle traversal through collapsed structures, post-earthquake rubble, and debris fields.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4206240"/>
            <a:ext cx="246888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b="1" sz="1200">
                <a:solidFill>
                  <a:srgbClr val="005B94"/>
                </a:solidFill>
              </a:defRPr>
            </a:pPr>
            <a:r>
              <a:t>🎯 Mining &amp; Off-Road Industry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Safe navigation through open-pit mines, quarries, and unpaved haulage tracks with zero ditch rollovers.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005840"/>
            <a:ext cx="48463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300"/>
              </a:spcAft>
              <a:defRPr b="1" sz="1400">
                <a:solidFill>
                  <a:srgbClr val="005B94"/>
                </a:solidFill>
              </a:defRPr>
            </a:pPr>
            <a:r>
              <a:t>“ Military &amp; Strategic Impact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Eliminates warfighter casualties by enabling fully unmanned scout rovers to navigate extreme forward terrains, unmapped minefields, and dense tactical ambush environments with zero GPS dependence.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0" y="2560320"/>
            <a:ext cx="48463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300"/>
              </a:spcAft>
              <a:defRPr b="1" sz="1400">
                <a:solidFill>
                  <a:srgbClr val="0284C7"/>
                </a:solidFill>
              </a:defRPr>
            </a:pPr>
            <a:r>
              <a:t>“ Economic &amp; Computational Impact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Slashes onboard compute payload weight and power by &gt;65%. Eliminates expensive industrial servers by delivering 60+ FPS performance on embedded edge hardware under 15W.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4114800"/>
            <a:ext cx="48463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78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300"/>
              </a:spcAft>
              <a:defRPr b="1" sz="1400">
                <a:solidFill>
                  <a:srgbClr val="107846"/>
                </a:solidFill>
              </a:defRPr>
            </a:pPr>
            <a:r>
              <a:t>“ Operational Safety &amp; Reliability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100% negative obstacle detection (ditches, potholes, drop-offs) drastically reduces ground vehicle roll-overs, wheel entrapments, and chassis fractures during high-speed tactical sorties.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806440"/>
            <a:ext cx="11064240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“India's breakthrough foveated 2.5D LiDAR perception engine — delivering military-grade situational awareness with unprecedented edge efficiency.”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6473952"/>
            <a:ext cx="670529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73952"/>
            <a:ext cx="914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8961120" cy="548640"/>
          </a:xfrm>
          <a:prstGeom prst="round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0" bIns="0"/>
          <a:lstStyle/>
          <a:p>
            <a:pPr algn="l">
              <a:defRPr sz="2100" b="1">
                <a:solidFill>
                  <a:srgbClr val="FFFFFF"/>
                </a:solidFill>
              </a:defRPr>
            </a:pPr>
            <a:r>
              <a:t>RESEARCH AND REFERENCES</a:t>
            </a:r>
          </a:p>
        </p:txBody>
      </p:sp>
      <p:pic>
        <p:nvPicPr>
          <p:cNvPr id="3" name="Picture 2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1920240" cy="823629"/>
          </a:xfrm>
          <a:prstGeom prst="rect">
            <a:avLst/>
          </a:prstGeom>
        </p:spPr>
      </p:pic>
      <p:pic>
        <p:nvPicPr>
          <p:cNvPr id="4" name="Picture 3" descr="lidar_slide5_tam_sam_s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3474720" cy="28956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206240" y="1005840"/>
            <a:ext cx="2377440" cy="2103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200">
                <a:solidFill>
                  <a:srgbClr val="005B94"/>
                </a:solidFill>
              </a:defRPr>
            </a:pPr>
            <a:r>
              <a:t>TAM – Total Addressable Market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$6.2 Billion global market for autonomous defense vehicles, tactical robotics, and smart vehicle LiDAR perception systems by 2030 (22.4% CAGR).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59" y="1005840"/>
            <a:ext cx="2377440" cy="2103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200">
                <a:solidFill>
                  <a:srgbClr val="005B94"/>
                </a:solidFill>
              </a:defRPr>
            </a:pPr>
            <a:r>
              <a:t>SAM – Serviceable Available Market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$1.15 Billion Indian defense modernization, paramilitary border patrol vehicles, and domestic industrial AGVs under Make in India initiatives.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1005840"/>
            <a:ext cx="2377440" cy="2103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200">
                <a:solidFill>
                  <a:srgbClr val="005B94"/>
                </a:solidFill>
              </a:defRPr>
            </a:pPr>
            <a:r>
              <a:t>SOM – Serviceable Obtainable Market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$85 Million initial 3-year serviceable market across Indian Army border rovers, DRDO AGV programs, and high-value mining automation fleets.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46120"/>
            <a:ext cx="676656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600"/>
              </a:spcAft>
              <a:defRPr b="1" sz="1400">
                <a:solidFill>
                  <a:srgbClr val="005B94"/>
                </a:solidFill>
              </a:defRPr>
            </a:pPr>
            <a:r>
              <a:t>📚 Academic &amp; Technical References</a:t>
            </a:r>
          </a:p>
          <a:p>
            <a:pPr>
              <a:spcAft>
                <a:spcPts val="300"/>
              </a:spcAft>
              <a:defRPr sz="1000">
                <a:solidFill>
                  <a:srgbClr val="0F172A"/>
                </a:solidFill>
              </a:defRPr>
            </a:pPr>
            <a:r>
              <a:t>1) Lim, H., et al., 'Patchwork++: Fast and Robust Ground Segmentation Solving Partial Under-Segmentation Using 3D LiDAR,' IEEE Transactions on Robotics (T-RO), 2024.</a:t>
            </a:r>
          </a:p>
          <a:p>
            <a:pPr>
              <a:spcAft>
                <a:spcPts val="300"/>
              </a:spcAft>
              <a:defRPr sz="1000">
                <a:solidFill>
                  <a:srgbClr val="0F172A"/>
                </a:solidFill>
              </a:defRPr>
            </a:pPr>
            <a:r>
              <a:t>2) Fankhauser, P., et al., 'Probabilistic Terrain Mapping for Mobile Robots with Uncertain Localization,' IEEE Robotics and Automation Letters (RA-L), vol. 3, no. 4, pp. 3019-3026.</a:t>
            </a:r>
          </a:p>
          <a:p>
            <a:pPr>
              <a:spcAft>
                <a:spcPts val="300"/>
              </a:spcAft>
              <a:defRPr sz="1000">
                <a:solidFill>
                  <a:srgbClr val="0F172A"/>
                </a:solidFill>
              </a:defRPr>
            </a:pPr>
            <a:r>
              <a:t>3) Chodosh, N., et al., 'Deep Elevation Mapping for Off-Road Autonomous Driving,' IEEE International Conference on Robotics and Automation (ICRA), 2023.</a:t>
            </a:r>
          </a:p>
          <a:p>
            <a:pPr>
              <a:spcAft>
                <a:spcPts val="300"/>
              </a:spcAft>
              <a:defRPr sz="1000">
                <a:solidFill>
                  <a:srgbClr val="0F172A"/>
                </a:solidFill>
              </a:defRPr>
            </a:pPr>
            <a:r>
              <a:t>4) Hornung, A., et al., 'OctoMap: An Efficient Probabilistic 3D Mapping Framework Based on Octrees,' Autonomous Robots, vol. 34, no. 3, pp. 189-206.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3246120"/>
            <a:ext cx="411480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600"/>
              </a:spcAft>
              <a:defRPr b="1" sz="1300">
                <a:solidFill>
                  <a:srgbClr val="005B94"/>
                </a:solidFill>
              </a:defRPr>
            </a:pPr>
            <a:r>
              <a:t>🔗 Project Deliverables &amp; Demonstration Links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1) Technical Architecture &amp; Algorithmic Blueprint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2) TAM-SAM-SOM Market &amp; Defense Procurement Model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3) GitHub Repository: FOVEA-MAP 2.5D C++ / ROS2 Package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4) Interactive 3D LiDAR Grid Web Perception Visualizer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5) TensorRT Jetson Orin Benchmark Latency Logs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6) Autonomous Ground Vehicle (AGV) Gazebo Simulation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6473952"/>
            <a:ext cx="670529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914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