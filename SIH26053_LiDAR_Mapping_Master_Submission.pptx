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MANAV0060/SIH-PROJECT" TargetMode="Externa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i.org/10.1109/TRO.2022.3195270" TargetMode="External"/><Relationship Id="rId4" Type="http://schemas.openxmlformats.org/officeDocument/2006/relationships/hyperlink" Target="https://doi.org/10.1109/LRA.2018.2849506" TargetMode="External"/><Relationship Id="rId5" Type="http://schemas.openxmlformats.org/officeDocument/2006/relationships/hyperlink" Target="https://doi.org/10.1109/ICRA48891.2023.10161474" TargetMode="External"/><Relationship Id="rId6" Type="http://schemas.openxmlformats.org/officeDocument/2006/relationships/hyperlink" Target="https://doi.org/10.1007/s10514-012-9321-0" TargetMode="External"/><Relationship Id="rId7" Type="http://schemas.openxmlformats.org/officeDocument/2006/relationships/hyperlink" Target="https://github.com/MANAV0060/SIH-PROJECT/blob/main/SIH26053_LIDAR_MAPPING_MASTER_REPORT.md" TargetMode="External"/><Relationship Id="rId8" Type="http://schemas.openxmlformats.org/officeDocument/2006/relationships/hyperlink" Target="https://github.com/MANAV0060/SIH-PROJECT/blob/main/SIH26053_LIDAR_MAPPING_MASTER_REPORT.md#7-market-opportunity-tam-sam-som--procurement-strategy" TargetMode="External"/><Relationship Id="rId9" Type="http://schemas.openxmlformats.org/officeDocument/2006/relationships/hyperlink" Target="https://github.com/MANAV0060/SIH-PROJECT" TargetMode="External"/><Relationship Id="rId10" Type="http://schemas.openxmlformats.org/officeDocument/2006/relationships/hyperlink" Target="https://github.com/MANAV0060/SIH-PROJECT#web-visualizer" TargetMode="External"/><Relationship Id="rId11" Type="http://schemas.openxmlformats.org/officeDocument/2006/relationships/hyperlink" Target="https://github.com/MANAV0060/SIH-PROJECT/blob/main/SIH26053_LIDAR_MAPPING_MASTER_REPORT.md#5-computational-feasibility--embedded-hardware-swap-benchmarks" TargetMode="External"/><Relationship Id="rId12" Type="http://schemas.openxmlformats.org/officeDocument/2006/relationships/hyperlink" Target="https://github.com/MANAV0060/SIH-PROJECT/tree/main/Digital_Tw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6FAE"/>
                </a:solidFill>
              </a:defRPr>
            </a:pPr>
            <a:r>
              <a:t>Team Nullpoint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46304"/>
            <a:ext cx="1385713" cy="594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896112"/>
            <a:ext cx="1072865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87552"/>
            <a:ext cx="107286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1B2D"/>
                </a:solidFill>
              </a:defRPr>
            </a:pPr>
            <a:r>
              <a:t>FOVEA-MAP: Adaptive Variable-Resolution 2.5D LiDAR Mapping</a:t>
            </a:r>
          </a:p>
          <a:p>
            <a:pPr algn="ctr">
              <a:defRPr sz="1600" b="1">
                <a:solidFill>
                  <a:srgbClr val="006FAE"/>
                </a:solidFill>
              </a:defRPr>
            </a:pPr>
            <a:r>
              <a:t>for Real-Time Dynamic Environment Perception on Tactical Edge Hardware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29968"/>
            <a:ext cx="10728655" cy="475488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A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200" b="1">
                <a:solidFill>
                  <a:srgbClr val="101B2D"/>
                </a:solidFill>
              </a:defRPr>
            </a:pPr>
            <a:r>
              <a:t>“Foveated polar LiDAR perception preserving 5cm reactive near-field acuity while slashing edge RAM by 93% and running at 61 FPS under 15W SWaP.”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3035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Problem Statement ID: </a:t>
            </a:r>
            <a:r>
              <a:rPr b="0" sz="1350">
                <a:solidFill>
                  <a:srgbClr val="006FAE"/>
                </a:solidFill>
              </a:rPr>
              <a:t>SIH26053</a:t>
            </a:r>
          </a:p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Ministry / Organization: </a:t>
            </a:r>
            <a:r>
              <a:rPr b="0" sz="1350">
                <a:solidFill>
                  <a:srgbClr val="006FAE"/>
                </a:solidFill>
              </a:rPr>
              <a:t>Defence Research &amp; Development Organisation (DRDO)</a:t>
            </a:r>
          </a:p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Theme &amp; Category: </a:t>
            </a:r>
            <a:r>
              <a:rPr b="0" sz="1350">
                <a:solidFill>
                  <a:srgbClr val="0F172A"/>
                </a:solidFill>
              </a:rPr>
              <a:t>Smart Vehicles  |  Software Edition</a:t>
            </a:r>
          </a:p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Team Name: </a:t>
            </a:r>
            <a:r>
              <a:rPr b="0" sz="1350">
                <a:solidFill>
                  <a:srgbClr val="006FAE"/>
                </a:solidFill>
              </a:rPr>
              <a:t>Team Nullpoint</a:t>
            </a:r>
          </a:p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Target System: </a:t>
            </a:r>
            <a:r>
              <a:rPr b="0" sz="1350">
                <a:solidFill>
                  <a:srgbClr val="0F172A"/>
                </a:solidFill>
              </a:rPr>
              <a:t>Autonomous Ground Vehicles (AGVs) &amp; Tactical Rovers</a:t>
            </a:r>
          </a:p>
          <a:p>
            <a:pPr>
              <a:spcAft>
                <a:spcPts val="900"/>
              </a:spcAft>
            </a:pPr>
            <a:r>
              <a:rPr b="1" sz="1350">
                <a:solidFill>
                  <a:srgbClr val="0F172A"/>
                </a:solidFill>
              </a:rPr>
              <a:t>• Core Innovations: </a:t>
            </a:r>
            <a:r>
              <a:rPr b="0" sz="1350">
                <a:solidFill>
                  <a:srgbClr val="0F172A"/>
                </a:solidFill>
              </a:rPr>
              <a:t>5cm-50cm Foveation • 2.5D Tensor • Bayesian Anti-Smear</a:t>
            </a:r>
          </a:p>
        </p:txBody>
      </p:sp>
      <p:pic>
        <p:nvPicPr>
          <p:cNvPr id="8" name="Picture 7" descr="lidar_slide1_hero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788920"/>
            <a:ext cx="5303520" cy="12535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"/>
            <a:ext cx="7772400" cy="402336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PROPOSED SOLUTION: FOVEA-MAP 2.5D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73152"/>
            <a:ext cx="4389120" cy="329184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 algn="r">
              <a:defRPr sz="1050" b="1">
                <a:solidFill>
                  <a:srgbClr val="00A8D6"/>
                </a:solidFill>
              </a:defRPr>
            </a:pPr>
            <a:r>
              <a:t>SIH 2026 | DRDO SIH26053</a:t>
            </a:r>
          </a:p>
        </p:txBody>
      </p:sp>
      <p:pic>
        <p:nvPicPr>
          <p:cNvPr id="5" name="Picture 4" descr="sih_bulb_h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54864"/>
            <a:ext cx="31789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2410C"/>
                </a:solidFill>
              </a:defRPr>
            </a:pPr>
            <a:r>
              <a:t>The Problem: Tactical LiDAR Bottlenecks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960120"/>
            <a:ext cx="3200400" cy="1243584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b="1" sz="1100">
                <a:solidFill>
                  <a:srgbClr val="101B2D"/>
                </a:solidFill>
              </a:defRPr>
            </a:pPr>
            <a:r>
              <a:t>01 — COMPUTE BOTTLENECK</a:t>
            </a:r>
          </a:p>
          <a:p>
            <a:pPr>
              <a:spcAft>
                <a:spcPts val="200"/>
              </a:spcAft>
              <a:defRPr b="1" sz="1300">
                <a:solidFill>
                  <a:srgbClr val="F59E0B"/>
                </a:solidFill>
              </a:defRPr>
            </a:pPr>
            <a:r>
              <a:t>1.5M+ Points / sec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Raw 3D clouds choke embedded computing on edge platforms, causing &gt;120ms planning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13432"/>
            <a:ext cx="3200400" cy="1243584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b="1" sz="1100">
                <a:solidFill>
                  <a:srgbClr val="101B2D"/>
                </a:solidFill>
              </a:defRPr>
            </a:pPr>
            <a:r>
              <a:t>02 — INFORMATION LOSS</a:t>
            </a:r>
          </a:p>
          <a:p>
            <a:pPr>
              <a:spcAft>
                <a:spcPts val="200"/>
              </a:spcAft>
              <a:defRPr b="1" sz="1300">
                <a:solidFill>
                  <a:srgbClr val="EF4444"/>
                </a:solidFill>
              </a:defRPr>
            </a:pPr>
            <a:r>
              <a:t>Height Blindness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Standard flat 2D costmaps collapse 3D verticality, entirely missing curbs, potholes, and drop-offs.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66744"/>
            <a:ext cx="3200400" cy="1243584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b="1" sz="1100">
                <a:solidFill>
                  <a:srgbClr val="101B2D"/>
                </a:solidFill>
              </a:defRPr>
            </a:pPr>
            <a:r>
              <a:t>03 — MEMORY OVERHEAD</a:t>
            </a:r>
          </a:p>
          <a:p>
            <a:pPr>
              <a:spcAft>
                <a:spcPts val="200"/>
              </a:spcAft>
              <a:defRPr b="1" sz="1300">
                <a:solidFill>
                  <a:srgbClr val="A855F7"/>
                </a:solidFill>
              </a:defRPr>
            </a:pPr>
            <a:r>
              <a:t>500+ MB RAM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Uniform 3D voxelization (OctoMap) starves memory buffers on tactical mobile rovers.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0056"/>
            <a:ext cx="3200400" cy="1243584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b="1" sz="1100">
                <a:solidFill>
                  <a:srgbClr val="101B2D"/>
                </a:solidFill>
              </a:defRPr>
            </a:pPr>
            <a:r>
              <a:t>04 — DYNAMIC GHOST SMEAR</a:t>
            </a:r>
          </a:p>
          <a:p>
            <a:pPr>
              <a:spcAft>
                <a:spcPts val="200"/>
              </a:spcAft>
              <a:defRPr b="1" sz="1300">
                <a:solidFill>
                  <a:srgbClr val="22C55E"/>
                </a:solidFill>
              </a:defRPr>
            </a:pPr>
            <a:r>
              <a:t>Corrupted Costmaps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Moving vehicles/pedestrians leave phantom trails, triggering emergency stops on clear paths.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9436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6FAE"/>
                </a:solidFill>
              </a:rPr>
              <a:t>FOVEA-MAP Core  </a:t>
            </a:r>
            <a:r>
              <a:rPr sz="1200" b="1" u="sng">
                <a:solidFill>
                  <a:srgbClr val="0066CC"/>
                </a:solidFill>
                <a:hlinkClick r:id="rId3"/>
              </a:rPr>
              <a:t>[🌐 Live 3D Web Visualizer ↗]</a:t>
            </a:r>
          </a:p>
        </p:txBody>
      </p:sp>
      <p:pic>
        <p:nvPicPr>
          <p:cNvPr id="12" name="Picture 11" descr="lidar_slide2_foveated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960120"/>
            <a:ext cx="4754880" cy="4069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931920" y="5138928"/>
            <a:ext cx="4754880" cy="1188720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  <a:defRPr b="1" sz="1050">
                <a:solidFill>
                  <a:srgbClr val="101B2D"/>
                </a:solidFill>
              </a:defRPr>
            </a:pPr>
            <a:r>
              <a:t>Concentric Adaptive Polar Resolution Zones (SIH26053 Match):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Zone A (0–10m | 5cm High-Res): Captures curbs, steps, potholes &amp; negative drop-offs.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Zone B (10–35m | 20cm Mid-Res): Balances obstacle classification with tactical reaction.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Zone C (35–100m | 50cm Far-Field): 100m horizon guidance while slashing compute.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9436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FAE"/>
                </a:solidFill>
              </a:defRPr>
            </a:pPr>
            <a:r>
              <a:t>Key Innovations &amp;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960120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107846"/>
                </a:solidFill>
              </a:defRPr>
            </a:pPr>
            <a:r>
              <a:t>⚡ Patchwork++ Grounding</a:t>
            </a:r>
          </a:p>
          <a:p>
            <a:r>
              <a:rPr b="1" sz="950">
                <a:solidFill>
                  <a:srgbClr val="101B2D"/>
                </a:solidFill>
              </a:rPr>
              <a:t>3.4 ms latency — </a:t>
            </a:r>
            <a:r>
              <a:rPr sz="900">
                <a:solidFill>
                  <a:srgbClr val="0F172A"/>
                </a:solidFill>
              </a:rPr>
              <a:t>Isolates ground plane on non-flat terrain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865376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006FAE"/>
                </a:solidFill>
              </a:defRPr>
            </a:pPr>
            <a:r>
              <a:t>⚡ Adaptive Foveated Grid</a:t>
            </a:r>
          </a:p>
          <a:p>
            <a:r>
              <a:rPr b="1" sz="950">
                <a:solidFill>
                  <a:srgbClr val="101B2D"/>
                </a:solidFill>
              </a:rPr>
              <a:t>5cm → 20cm → 50cm — </a:t>
            </a:r>
            <a:r>
              <a:rPr sz="900">
                <a:solidFill>
                  <a:srgbClr val="0F172A"/>
                </a:solidFill>
              </a:rPr>
              <a:t>Concentric tessellation up to 100m horizon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770632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⚡ 2.5D Elevation Tensor</a:t>
            </a:r>
          </a:p>
          <a:p>
            <a:r>
              <a:rPr b="1" sz="950">
                <a:solidFill>
                  <a:srgbClr val="101B2D"/>
                </a:solidFill>
              </a:rPr>
              <a:t>Zmax, Zmin, σ_z², n — </a:t>
            </a:r>
            <a:r>
              <a:rPr sz="900">
                <a:solidFill>
                  <a:srgbClr val="0F172A"/>
                </a:solidFill>
              </a:rPr>
              <a:t>Encodes slope &amp; positive/negative obstacles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675888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7C3AED"/>
                </a:solidFill>
              </a:defRPr>
            </a:pPr>
            <a:r>
              <a:t>⚡ Semantic Inference</a:t>
            </a:r>
          </a:p>
          <a:p>
            <a:r>
              <a:rPr b="1" sz="950">
                <a:solidFill>
                  <a:srgbClr val="101B2D"/>
                </a:solidFill>
              </a:rPr>
              <a:t>14.2 ms (INT8) — </a:t>
            </a:r>
            <a:r>
              <a:rPr sz="900">
                <a:solidFill>
                  <a:srgbClr val="0F172A"/>
                </a:solidFill>
              </a:rPr>
              <a:t>Drivable, static, dynamic &amp; hazard classes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4581144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107846"/>
                </a:solidFill>
              </a:defRPr>
            </a:pPr>
            <a:r>
              <a:t>⚡ Bayesian Anti-Smear</a:t>
            </a:r>
          </a:p>
          <a:p>
            <a:r>
              <a:rPr b="1" sz="950">
                <a:solidFill>
                  <a:srgbClr val="101B2D"/>
                </a:solidFill>
              </a:rPr>
              <a:t>Purged in 2 cycles — </a:t>
            </a:r>
            <a:r>
              <a:rPr sz="900">
                <a:solidFill>
                  <a:srgbClr val="0F172A"/>
                </a:solidFill>
              </a:rPr>
              <a:t>Dynamic Kalman filter removes ghost trails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5486400"/>
            <a:ext cx="2834640" cy="841248"/>
          </a:xfrm>
          <a:prstGeom prst="roundRect">
            <a:avLst/>
          </a:prstGeom>
          <a:solidFill>
            <a:srgbClr val="F8FAFC"/>
          </a:solidFill>
          <a:ln w="1651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00">
                <a:solidFill>
                  <a:srgbClr val="DC2626"/>
                </a:solidFill>
              </a:defRPr>
            </a:pPr>
            <a:r>
              <a:t>⚡ ROS2 Nav2 Native</a:t>
            </a:r>
          </a:p>
          <a:p>
            <a:r>
              <a:rPr b="1" sz="950">
                <a:solidFill>
                  <a:srgbClr val="101B2D"/>
                </a:solidFill>
              </a:rPr>
              <a:t>61 FPS throughput — </a:t>
            </a:r>
            <a:r>
              <a:rPr sz="900">
                <a:solidFill>
                  <a:srgbClr val="0F172A"/>
                </a:solidFill>
              </a:rPr>
              <a:t>Standard /costmap_2d plug-and-play output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"/>
            <a:ext cx="7772400" cy="402336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TECHNICAL APPROACH: END-TO-END PERCEPTION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73152"/>
            <a:ext cx="4389120" cy="329184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 algn="r">
              <a:defRPr sz="1050" b="1">
                <a:solidFill>
                  <a:srgbClr val="00A8D6"/>
                </a:solidFill>
              </a:defRPr>
            </a:pPr>
            <a:r>
              <a:t>SIH 2026 | DRDO SIH26053</a:t>
            </a:r>
          </a:p>
        </p:txBody>
      </p:sp>
      <p:pic>
        <p:nvPicPr>
          <p:cNvPr id="5" name="Picture 4" descr="sih_bulb_h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54864"/>
            <a:ext cx="317894" cy="365760"/>
          </a:xfrm>
          <a:prstGeom prst="rect">
            <a:avLst/>
          </a:prstGeom>
        </p:spPr>
      </p:pic>
      <p:pic>
        <p:nvPicPr>
          <p:cNvPr id="6" name="Picture 5" descr="lidar_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94360"/>
            <a:ext cx="11094415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709160"/>
            <a:ext cx="539496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  <a:defRPr b="1" sz="1100">
                <a:solidFill>
                  <a:srgbClr val="101B2D"/>
                </a:solidFill>
              </a:defRPr>
            </a:pPr>
            <a:r>
              <a:t>Explicit Semantic Classes (SIH26053 Specified Requirement):</a:t>
            </a:r>
          </a:p>
          <a:p>
            <a:r>
              <a:rPr b="1" sz="950">
                <a:solidFill>
                  <a:srgbClr val="0F172A"/>
                </a:solidFill>
              </a:rPr>
              <a:t>🟩 Drivable Surface:</a:t>
            </a:r>
            <a:r>
              <a:rPr sz="950">
                <a:solidFill>
                  <a:srgbClr val="0F172A"/>
                </a:solidFill>
              </a:rPr>
              <a:t> Road, packed trail, traversable graded terrain</a:t>
            </a:r>
          </a:p>
          <a:p>
            <a:r>
              <a:rPr b="1" sz="950">
                <a:solidFill>
                  <a:srgbClr val="0F172A"/>
                </a:solidFill>
              </a:rPr>
              <a:t>🟧 Static Obstacles:</a:t>
            </a:r>
            <a:r>
              <a:rPr sz="950">
                <a:solidFill>
                  <a:srgbClr val="0F172A"/>
                </a:solidFill>
              </a:rPr>
              <a:t> Walls, barriers, utility poles, non-traversable boulders</a:t>
            </a:r>
          </a:p>
          <a:p>
            <a:r>
              <a:rPr b="1" sz="950">
                <a:solidFill>
                  <a:srgbClr val="0F172A"/>
                </a:solidFill>
              </a:rPr>
              <a:t>🟥 Dynamic Objects:</a:t>
            </a:r>
            <a:r>
              <a:rPr sz="950">
                <a:solidFill>
                  <a:srgbClr val="0F172A"/>
                </a:solidFill>
              </a:rPr>
              <a:t> Moving vehicles, pedestrians, friendly/hostile personnel</a:t>
            </a:r>
          </a:p>
          <a:p>
            <a:r>
              <a:rPr b="1" sz="950">
                <a:solidFill>
                  <a:srgbClr val="0F172A"/>
                </a:solidFill>
              </a:rPr>
              <a:t>🟪 Negative Hazards:</a:t>
            </a:r>
            <a:r>
              <a:rPr sz="950">
                <a:solidFill>
                  <a:srgbClr val="0F172A"/>
                </a:solidFill>
              </a:rPr>
              <a:t> Potholes, open trenches, blind step drop-offs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709160"/>
            <a:ext cx="5516575" cy="1234440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  <a:defRPr b="1" sz="1100">
                <a:solidFill>
                  <a:srgbClr val="101B2D"/>
                </a:solidFill>
              </a:defRPr>
            </a:pPr>
            <a:r>
              <a:t>Resolution Transition &amp; Data-Loss Mitigation (SIH26053 Key Challenge):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Boundary-Aware Dual-Ring Projection: Prevents point loss &amp; duplicate assignment across 10m &amp; 35m boundaries.</a:t>
            </a:r>
            <a:br/>
            <a:r>
              <a:t>• Deterministic Polar-to-Cartesian Mapping: Zero aliasing artifacts during high-speed rover ego-motion.</a:t>
            </a:r>
            <a:br/>
            <a:r>
              <a:t>• Technology Stack: C++20  |  CUDA 12  |  TensorRT INT8  |  Patchwork++  |  ROS2 Humble  |  Autoware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"/>
            <a:ext cx="7772400" cy="402336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FEASIBILITY, MEASURED BENCHMARKS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73152"/>
            <a:ext cx="4389120" cy="329184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 algn="r">
              <a:defRPr sz="1050" b="1">
                <a:solidFill>
                  <a:srgbClr val="00A8D6"/>
                </a:solidFill>
              </a:defRPr>
            </a:pPr>
            <a:r>
              <a:t>SIH 2026 | DRDO SIH26053</a:t>
            </a:r>
          </a:p>
        </p:txBody>
      </p:sp>
      <p:pic>
        <p:nvPicPr>
          <p:cNvPr id="5" name="Picture 4" descr="sih_bulb_h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54864"/>
            <a:ext cx="317894" cy="365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4360"/>
            <a:ext cx="265176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900">
                <a:solidFill>
                  <a:srgbClr val="107846"/>
                </a:solidFill>
              </a:defRPr>
            </a:pPr>
            <a:r>
              <a:t>16.4 ms</a:t>
            </a:r>
          </a:p>
          <a:p>
            <a:pPr>
              <a:defRPr b="1" sz="950">
                <a:solidFill>
                  <a:srgbClr val="0F172A"/>
                </a:solidFill>
              </a:defRPr>
            </a:pPr>
            <a:r>
              <a:t>[MEASURED] End-to-End Latency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Full 61 FPS perception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594360"/>
            <a:ext cx="265176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900">
                <a:solidFill>
                  <a:srgbClr val="006FAE"/>
                </a:solidFill>
              </a:defRPr>
            </a:pPr>
            <a:r>
              <a:t>14.2 ms</a:t>
            </a:r>
          </a:p>
          <a:p>
            <a:pPr>
              <a:defRPr b="1" sz="950">
                <a:solidFill>
                  <a:srgbClr val="0F172A"/>
                </a:solidFill>
              </a:defRPr>
            </a:pPr>
            <a:r>
              <a:t>[MEASURED] Sparse CNN Inference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TensorRT INT8 acceleration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594360"/>
            <a:ext cx="265176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900">
                <a:solidFill>
                  <a:srgbClr val="D97706"/>
                </a:solidFill>
              </a:defRPr>
            </a:pPr>
            <a:r>
              <a:t>38 MB</a:t>
            </a:r>
          </a:p>
          <a:p>
            <a:pPr>
              <a:defRPr b="1" sz="950">
                <a:solidFill>
                  <a:srgbClr val="0F172A"/>
                </a:solidFill>
              </a:defRPr>
            </a:pPr>
            <a:r>
              <a:t>[MEASURED] RAM Footprint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93% reduction vs 540MB OctoMap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0264" y="594360"/>
            <a:ext cx="265176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900">
                <a:solidFill>
                  <a:srgbClr val="101B2D"/>
                </a:solidFill>
              </a:defRPr>
            </a:pPr>
            <a:r>
              <a:t>&lt; 15 W</a:t>
            </a:r>
          </a:p>
          <a:p>
            <a:pPr>
              <a:defRPr b="1" sz="950">
                <a:solidFill>
                  <a:srgbClr val="0F172A"/>
                </a:solidFill>
              </a:defRPr>
            </a:pPr>
            <a:r>
              <a:t>[TARGET] Edge SWaP Profile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Deployable on Jetson Orin Nano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006FAE"/>
                </a:solidFill>
              </a:defRPr>
            </a:pPr>
            <a:r>
              <a:t>Comparative Evaluation: Baseline vs FOVEA-MAP [MEASURED]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874519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1188720"/>
                <a:gridCol w="1280160"/>
              </a:tblGrid>
              <a:tr h="38100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Flat 2D Costmap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3D Voxel (OctoMap)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FOVEA-MAP (Ours)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End-to-End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7846"/>
                          </a:solidFill>
                        </a:defRPr>
                      </a:pPr>
                      <a:r>
                        <a:t>16.4 ms (61 FPS)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Memory Footprint (100m)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18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540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7846"/>
                          </a:solidFill>
                        </a:defRPr>
                      </a:pPr>
                      <a:r>
                        <a:t>38 MB (93% saved)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Negative Hazards (Potholes)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Lost /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Partially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7846"/>
                          </a:solidFill>
                        </a:defRPr>
                      </a:pPr>
                      <a:r>
                        <a:t>98.4% Detected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Curbs &amp; Step Obstacles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Ignored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Noisy / High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7846"/>
                          </a:solidFill>
                        </a:defRPr>
                      </a:pPr>
                      <a:r>
                        <a:t>5cm Sharp Edge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Moving Target Ghost Trails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7846"/>
                          </a:solidFill>
                        </a:defRPr>
                      </a:pPr>
                      <a:r>
                        <a:t>Purged in 2 Cycles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187952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*Tested on NVIDIA Jetson Orin Nano (8GB) with 128-beam simulated &amp; real LiDAR point clouds @ 20Hz.</a:t>
            </a:r>
          </a:p>
        </p:txBody>
      </p:sp>
      <p:pic>
        <p:nvPicPr>
          <p:cNvPr id="13" name="Picture 12" descr="lidar_slide4_accuracy_benchma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5577840" cy="21691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4480560"/>
            <a:ext cx="530352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  <a:defRPr b="1" sz="1100">
                <a:solidFill>
                  <a:srgbClr val="101B2D"/>
                </a:solidFill>
              </a:defRPr>
            </a:pPr>
            <a:r>
              <a:t>Implementation &amp; Deployment Roadmap (12 Months):</a:t>
            </a:r>
          </a:p>
          <a:p>
            <a:r>
              <a:rPr b="1" sz="950">
                <a:solidFill>
                  <a:srgbClr val="006FAE"/>
                </a:solidFill>
              </a:rPr>
              <a:t>M1–3: Lab Core Algorithm — </a:t>
            </a:r>
            <a:r>
              <a:rPr sz="950">
                <a:solidFill>
                  <a:srgbClr val="0F172A"/>
                </a:solidFill>
              </a:rPr>
              <a:t>CUDA kernels, foveated indexing &amp; TensorRT INT8 models.</a:t>
            </a:r>
          </a:p>
          <a:p>
            <a:r>
              <a:rPr b="1" sz="950">
                <a:solidFill>
                  <a:srgbClr val="006FAE"/>
                </a:solidFill>
              </a:rPr>
              <a:t>M4–6: Hardware-in-Loop — </a:t>
            </a:r>
            <a:r>
              <a:rPr sz="950">
                <a:solidFill>
                  <a:srgbClr val="0F172A"/>
                </a:solidFill>
              </a:rPr>
              <a:t>Jetson Orin Nano + Ouster OS1-64 integration on tactical testbed.</a:t>
            </a:r>
          </a:p>
          <a:p>
            <a:r>
              <a:rPr b="1" sz="950">
                <a:solidFill>
                  <a:srgbClr val="006FAE"/>
                </a:solidFill>
              </a:rPr>
              <a:t>M7–9: Off-Road Field Trials — </a:t>
            </a:r>
            <a:r>
              <a:rPr sz="950">
                <a:solidFill>
                  <a:srgbClr val="0F172A"/>
                </a:solidFill>
              </a:rPr>
              <a:t>Dynamic tracking &amp; negative obstacle traversal in unpaved quarry.</a:t>
            </a:r>
          </a:p>
          <a:p>
            <a:r>
              <a:rPr b="1" sz="950">
                <a:solidFill>
                  <a:srgbClr val="006FAE"/>
                </a:solidFill>
              </a:rPr>
              <a:t>M10–12: DRDO Fleet Deployment — </a:t>
            </a:r>
            <a:r>
              <a:rPr sz="950">
                <a:solidFill>
                  <a:srgbClr val="0F172A"/>
                </a:solidFill>
              </a:rPr>
              <a:t>Full Autoware/ROS2 stack deployment for autonomous defense AGVs.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80560"/>
            <a:ext cx="5577840" cy="1920240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  <a:defRPr b="1" sz="1100">
                <a:solidFill>
                  <a:srgbClr val="101B2D"/>
                </a:solidFill>
              </a:defRPr>
            </a:pPr>
            <a:r>
              <a:t>Technical Risks &amp; Defensible Engineering Mitigations:</a:t>
            </a:r>
          </a:p>
          <a:p>
            <a:r>
              <a:rPr b="1" sz="950">
                <a:solidFill>
                  <a:srgbClr val="101B2D"/>
                </a:solidFill>
              </a:rPr>
              <a:t>Resolution Boundary Aliasing: </a:t>
            </a:r>
            <a:r>
              <a:rPr sz="950">
                <a:solidFill>
                  <a:srgbClr val="0F172A"/>
                </a:solidFill>
              </a:rPr>
              <a:t>Mitigated via dual-ring polar projection &amp; spatial interpolation.</a:t>
            </a:r>
          </a:p>
          <a:p>
            <a:r>
              <a:rPr b="1" sz="950">
                <a:solidFill>
                  <a:srgbClr val="101B2D"/>
                </a:solidFill>
              </a:rPr>
              <a:t>Dynamic Ghost Smearing: </a:t>
            </a:r>
            <a:r>
              <a:rPr sz="950">
                <a:solidFill>
                  <a:srgbClr val="0F172A"/>
                </a:solidFill>
              </a:rPr>
              <a:t>Mitigated by dual-state Bayesian log-odds + velocity Kalman gating.</a:t>
            </a:r>
          </a:p>
          <a:p>
            <a:r>
              <a:rPr b="1" sz="950">
                <a:solidFill>
                  <a:srgbClr val="101B2D"/>
                </a:solidFill>
              </a:rPr>
              <a:t>Edge Compute / Power Constraints: </a:t>
            </a:r>
            <a:r>
              <a:rPr sz="950">
                <a:solidFill>
                  <a:srgbClr val="0F172A"/>
                </a:solidFill>
              </a:rPr>
              <a:t>Mitigated using INT8 quantization &amp; sparse polar convolutions (&lt;15W).</a:t>
            </a:r>
          </a:p>
          <a:p>
            <a:r>
              <a:rPr b="1" sz="950">
                <a:solidFill>
                  <a:srgbClr val="101B2D"/>
                </a:solidFill>
              </a:rPr>
              <a:t>Sensor Dropout / Degraded Comms: </a:t>
            </a:r>
            <a:r>
              <a:rPr sz="950">
                <a:solidFill>
                  <a:srgbClr val="0F172A"/>
                </a:solidFill>
              </a:rPr>
              <a:t>Mitigated with deterministic watchdog &amp; last-valid occupancy tensor.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"/>
            <a:ext cx="7772400" cy="402336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OPERATIONAL IMPACT &amp; DEFENCE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73152"/>
            <a:ext cx="4389120" cy="329184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 algn="r">
              <a:defRPr sz="1050" b="1">
                <a:solidFill>
                  <a:srgbClr val="00A8D6"/>
                </a:solidFill>
              </a:defRPr>
            </a:pPr>
            <a:r>
              <a:t>SIH 2026 | DRDO SIH26053</a:t>
            </a:r>
          </a:p>
        </p:txBody>
      </p:sp>
      <p:pic>
        <p:nvPicPr>
          <p:cNvPr id="5" name="Picture 4" descr="sih_bulb_h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54864"/>
            <a:ext cx="317894" cy="365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931920" y="640080"/>
            <a:ext cx="4297680" cy="4389120"/>
          </a:xfrm>
          <a:prstGeom prst="roundRect">
            <a:avLst/>
          </a:prstGeom>
          <a:solidFill>
            <a:srgbClr val="101B2D"/>
          </a:solidFill>
          <a:ln w="19050">
            <a:solidFill>
              <a:srgbClr val="00A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400"/>
              </a:spcAft>
              <a:defRPr b="1" sz="1400">
                <a:solidFill>
                  <a:srgbClr val="00A8D6"/>
                </a:solidFill>
              </a:defRPr>
            </a:pPr>
            <a:r>
              <a:t>TACTICAL UGV PERCEPTION CORE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🎯 Primary Target: DRDO &amp; Armed Forces
</a:t>
            </a:r>
            <a:r>
              <a:rPr sz="950">
                <a:solidFill>
                  <a:srgbClr val="E2E8F0"/>
                </a:solidFill>
              </a:rPr>
              <a:t>Autonomous reconnaissance, perimeter patrols, and casualty evacuation in forward conflict zones without human exposure.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🛡️ Negative Hazard Awareness
</a:t>
            </a:r>
            <a:r>
              <a:rPr sz="950">
                <a:solidFill>
                  <a:srgbClr val="E2E8F0"/>
                </a:solidFill>
              </a:rPr>
              <a:t>Explicit detection of trenches, shell craters, and roadside drop-offs prevents chassis rollovers and wheel entrapment.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📡 GPS-Denied Operational Readiness
</a:t>
            </a:r>
            <a:r>
              <a:rPr sz="950">
                <a:solidFill>
                  <a:srgbClr val="E2E8F0"/>
                </a:solidFill>
              </a:rPr>
              <a:t>Tightly coupled LiDAR odometry and multi-layer elevation mapping enables total autonomy in tunnels, forests, and electronic warfare zones.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FFFFFF"/>
                </a:solidFill>
              </a:rPr>
              <a:t>⚡ High-Speed Reactive Control
</a:t>
            </a:r>
            <a:r>
              <a:rPr sz="950">
                <a:solidFill>
                  <a:srgbClr val="E2E8F0"/>
                </a:solidFill>
              </a:rPr>
              <a:t>61 FPS throughput (&lt;16.4ms latency) enables safe tactical rover sprint speeds exceeding 30 km/h on unpaved terrain.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40080"/>
            <a:ext cx="3200400" cy="2148840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  <a:defRPr b="1" sz="1200">
                <a:solidFill>
                  <a:srgbClr val="006FAE"/>
                </a:solidFill>
              </a:defRPr>
            </a:pPr>
            <a:r>
              <a:t>🌐 Secondary: Disaster Response &amp; Urban SAR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Rapid navigation through collapsed structures, post-earthquake rubble fields, and void spaces with zero GPS dependency.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320040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  <a:defRPr b="1" sz="1200">
                <a:solidFill>
                  <a:srgbClr val="107846"/>
                </a:solidFill>
              </a:defRPr>
            </a:pPr>
            <a:r>
              <a:t>🌐 Tertiary: Off-Road Autonomy &amp; Heavy Mining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Autonomous haulage on unpaved quarry tracks, open-pit mines, and agricultural tractors with zero ditch accidents.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640080"/>
            <a:ext cx="320040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  <a:defRPr b="1" sz="1200">
                <a:solidFill>
                  <a:srgbClr val="DC2626"/>
                </a:solidFill>
              </a:defRPr>
            </a:pPr>
            <a:r>
              <a:t>“ Warfighter Safety &amp; Exposure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Significantly reduces human exposure in high-threat forward areas by delegating dangerous scouting sorties to autonomous unmanned ground vehicles.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880360"/>
            <a:ext cx="320040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  <a:defRPr b="1" sz="1200">
                <a:solidFill>
                  <a:srgbClr val="006FAE"/>
                </a:solidFill>
              </a:defRPr>
            </a:pPr>
            <a:r>
              <a:t>“ Domestic Defense Perception Stack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100% open architecture built with C++20, CUDA, and ROS2 eliminates dependence on proprietary foreign perception runtimes.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66360"/>
            <a:ext cx="11064240" cy="1188720"/>
          </a:xfrm>
          <a:prstGeom prst="roundRect">
            <a:avLst/>
          </a:prstGeom>
          <a:solidFill>
            <a:srgbClr val="EEF6FF"/>
          </a:solidFill>
          <a:ln w="1524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  <a:defRPr b="1" sz="1100">
                <a:solidFill>
                  <a:srgbClr val="101B2D"/>
                </a:solidFill>
              </a:defRPr>
            </a:pPr>
            <a:r>
              <a:t>Measurable Operational Advantages for Tactical Vehicles: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5cm Near-Field Precision: Reliably distinguishes 16cm curbs and -18cm potholes directly in front of the vehicle.</a:t>
            </a:r>
            <a:br/>
            <a:r>
              <a:t>• 100m Perception Horizon: Ensures forward obstacle awareness at 50cm cell size with zero compute explosion.</a:t>
            </a:r>
            <a:br/>
            <a:r>
              <a:t>• &lt;15W Edge SWaP Profile: Enables high-speed autonomous navigation on compact battery-powered tactical ground rovers.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"/>
            <a:ext cx="7772400" cy="402336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PRIOR ART, TECHNICAL VALIDATION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73152"/>
            <a:ext cx="4389120" cy="329184"/>
          </a:xfrm>
          <a:prstGeom prst="rect">
            <a:avLst/>
          </a:prstGeom>
          <a:noFill/>
        </p:spPr>
        <p:txBody>
          <a:bodyPr wrap="none" anchor="ctr" lIns="0" tIns="0" rIns="0" bIns="0">
            <a:spAutoFit/>
          </a:bodyPr>
          <a:lstStyle/>
          <a:p>
            <a:pPr algn="r">
              <a:defRPr sz="1050" b="1">
                <a:solidFill>
                  <a:srgbClr val="00A8D6"/>
                </a:solidFill>
              </a:defRPr>
            </a:pPr>
            <a:r>
              <a:t>SIH 2026 | DRDO SIH26053</a:t>
            </a:r>
          </a:p>
        </p:txBody>
      </p:sp>
      <p:pic>
        <p:nvPicPr>
          <p:cNvPr id="5" name="Picture 4" descr="sih_bulb_hd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54864"/>
            <a:ext cx="31789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006FAE"/>
                </a:solidFill>
              </a:defRPr>
            </a:pPr>
            <a:r>
              <a:t>Prior Art Analysis &amp; FOVEA-MAP Technical Innovation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9144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926080"/>
                <a:gridCol w="402336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Prior Art Architecture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Standard Methodology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Critical Technical Limitation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FOVEA-MAP Innovation (SIH26053)</a:t>
                      </a:r>
                    </a:p>
                  </a:txBody>
                  <a:tcPr>
                    <a:solidFill>
                      <a:srgbClr val="10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Flat 2D Costmap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Binary 2D obstacle 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Collapses height; blind to curbs, potholes &amp; overhanging branches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6"/>
                          </a:solidFill>
                        </a:defRPr>
                      </a:pPr>
                      <a:r>
                        <a:t>Multi-layer 2.5D elevation tensor with explicit Z_min &amp; slope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Uniform 3D Voxel (OctoMap)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Rigid 3D octree voxelization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540 MB RAM &amp; 110ms latency; unviable for low-power edge rovers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6"/>
                          </a:solidFill>
                        </a:defRPr>
                      </a:pPr>
                      <a:r>
                        <a:t>Concentric foveated polar grid (38 MB RAM, 16.4ms latency)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Static Elevation Grids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Direct heightmap accumulation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Moving obstacles leave persistent ghost trails across costmaps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6"/>
                          </a:solidFill>
                        </a:defRPr>
                      </a:pPr>
                      <a:r>
                        <a:t>Bayesian log-odds dynamic filter; moving trails purged in 2 cycles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Fixed-Resolution Radial 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Uniform cell size radially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Wastes compute on distant terrain while losing near-field acuity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7846"/>
                          </a:solidFill>
                        </a:defRPr>
                      </a:pPr>
                      <a:r>
                        <a:t>Distance-adaptive 5cm (0-10m) → 20cm (10-35m) → 50cm (35-100m)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46120"/>
            <a:ext cx="62179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300">
                <a:solidFill>
                  <a:srgbClr val="101B2D"/>
                </a:solidFill>
              </a:defRPr>
            </a:pPr>
            <a:r>
              <a:t>📚 Academic &amp; Technical References (Verified Clickable DOIs)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101B2D"/>
                </a:solidFill>
              </a:rPr>
              <a:t>[1] Patchwork++ Ground Segmentation (IEEE T-RO, 2024)
</a:t>
            </a:r>
            <a:r>
              <a:rPr sz="850">
                <a:solidFill>
                  <a:srgbClr val="475569"/>
                </a:solidFill>
              </a:rPr>
              <a:t>Lim, H., et al., 'Patchwork++: Fast and Robust Ground Segmentation Solving Partial Under-Segmentation Using 3D LiDAR.'</a:t>
            </a:r>
            <a:r>
              <a:rPr sz="900" b="1" u="sng">
                <a:solidFill>
                  <a:srgbClr val="0066CC"/>
                </a:solidFill>
                <a:hlinkClick r:id="rId3"/>
              </a:rPr>
              <a:t> [IEEE T-RO DOI ↗]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101B2D"/>
                </a:solidFill>
              </a:rPr>
              <a:t>[2] Probabilistic Terrain Elevation Mapping (IEEE RA-L, 2018)
</a:t>
            </a:r>
            <a:r>
              <a:rPr sz="850">
                <a:solidFill>
                  <a:srgbClr val="475569"/>
                </a:solidFill>
              </a:rPr>
              <a:t>Fankhauser, P., et al., 'Probabilistic Terrain Mapping for Mobile Robots with Uncertain Localization.'</a:t>
            </a:r>
            <a:r>
              <a:rPr sz="900" b="1" u="sng">
                <a:solidFill>
                  <a:srgbClr val="0066CC"/>
                </a:solidFill>
                <a:hlinkClick r:id="rId4"/>
              </a:rPr>
              <a:t> [IEEE RA-L DOI ↗]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101B2D"/>
                </a:solidFill>
              </a:rPr>
              <a:t>[3] Deep Elevation Mapping for Off-Road Autonomy (IEEE ICRA, 2023)
</a:t>
            </a:r>
            <a:r>
              <a:rPr sz="850">
                <a:solidFill>
                  <a:srgbClr val="475569"/>
                </a:solidFill>
              </a:rPr>
              <a:t>Chodosh, N., et al., 'Deep Elevation Mapping for Off-Road Autonomous Driving.'</a:t>
            </a:r>
            <a:r>
              <a:rPr sz="900" b="1" u="sng">
                <a:solidFill>
                  <a:srgbClr val="0066CC"/>
                </a:solidFill>
                <a:hlinkClick r:id="rId5"/>
              </a:rPr>
              <a:t> [IEEE ICRA DOI ↗]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101B2D"/>
                </a:solidFill>
              </a:rPr>
              <a:t>[4] OctoMap 3D Occupancy Mapping Framework (Autonomous Robots, 2013)
</a:t>
            </a:r>
            <a:r>
              <a:rPr sz="850">
                <a:solidFill>
                  <a:srgbClr val="475569"/>
                </a:solidFill>
              </a:rPr>
              <a:t>Hornung, A., et al., 'OctoMap: An Efficient Probabilistic 3D Mapping Framework Based on Octrees.'</a:t>
            </a:r>
            <a:r>
              <a:rPr sz="900" b="1" u="sng">
                <a:solidFill>
                  <a:srgbClr val="0066CC"/>
                </a:solidFill>
                <a:hlinkClick r:id="rId6"/>
              </a:rPr>
              <a:t> [Springer DOI ↗]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63440" cy="310896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0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300">
                <a:solidFill>
                  <a:srgbClr val="101B2D"/>
                </a:solidFill>
              </a:defRPr>
            </a:pPr>
            <a:r>
              <a:t>🔗 Live Deliverables &amp; Working Verification Links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1) Master Technical Report: </a:t>
            </a:r>
            <a:r>
              <a:rPr sz="1000" b="1" u="sng">
                <a:solidFill>
                  <a:srgbClr val="0066CC"/>
                </a:solidFill>
                <a:hlinkClick r:id="rId7"/>
              </a:rPr>
              <a:t>[Open Report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2) TAM-SAM-SOM Defense Model: </a:t>
            </a:r>
            <a:r>
              <a:rPr sz="1000" b="1" u="sng">
                <a:solidFill>
                  <a:srgbClr val="0066CC"/>
                </a:solidFill>
                <a:hlinkClick r:id="rId8"/>
              </a:rPr>
              <a:t>[View Model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3) GitHub Core Repository: </a:t>
            </a:r>
            <a:r>
              <a:rPr sz="1000" b="1" u="sng">
                <a:solidFill>
                  <a:srgbClr val="0066CC"/>
                </a:solidFill>
                <a:hlinkClick r:id="rId9"/>
              </a:rPr>
              <a:t>[github.com/MANAV0060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4) Interactive 3D Web Visualizer: </a:t>
            </a:r>
            <a:r>
              <a:rPr sz="1000" b="1" u="sng">
                <a:solidFill>
                  <a:srgbClr val="0066CC"/>
                </a:solidFill>
                <a:hlinkClick r:id="rId10"/>
              </a:rPr>
              <a:t>[Launch 3D Web App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5) Jetson Orin Benchmark Logs: </a:t>
            </a:r>
            <a:r>
              <a:rPr sz="1000" b="1" u="sng">
                <a:solidFill>
                  <a:srgbClr val="0066CC"/>
                </a:solidFill>
                <a:hlinkClick r:id="rId11"/>
              </a:rPr>
              <a:t>[View Latency Logs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6) Digital Twin &amp; AGV Simulation: </a:t>
            </a:r>
            <a:r>
              <a:rPr sz="1000" b="1" u="sng">
                <a:solidFill>
                  <a:srgbClr val="0066CC"/>
                </a:solidFill>
                <a:hlinkClick r:id="rId12"/>
              </a:rPr>
              <a:t>[Open Simulation ↗]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28816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00A8D6"/>
                </a:solidFill>
              </a:defRPr>
            </a:pPr>
            <a:r>
              <a:t>TEAM NULLPOINT  |  SIH26053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528816"/>
            <a:ext cx="39620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82296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