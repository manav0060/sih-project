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MANAV0060/SIH-PROJECT" TargetMode="Externa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doi.org/10.1109/TRO.2022.3195270" TargetMode="External"/><Relationship Id="rId5" Type="http://schemas.openxmlformats.org/officeDocument/2006/relationships/hyperlink" Target="https://doi.org/10.1109/LRA.2018.2849506" TargetMode="External"/><Relationship Id="rId6" Type="http://schemas.openxmlformats.org/officeDocument/2006/relationships/hyperlink" Target="https://doi.org/10.1109/ICRA48891.2023.10161474" TargetMode="External"/><Relationship Id="rId7" Type="http://schemas.openxmlformats.org/officeDocument/2006/relationships/hyperlink" Target="https://doi.org/10.1007/s10514-012-9321-0" TargetMode="External"/><Relationship Id="rId8" Type="http://schemas.openxmlformats.org/officeDocument/2006/relationships/hyperlink" Target="https://github.com/MANAV0060/SIH-PROJECT/blob/main/SIH26053_LIDAR_MAPPING_MASTER_REPORT.md" TargetMode="External"/><Relationship Id="rId9" Type="http://schemas.openxmlformats.org/officeDocument/2006/relationships/hyperlink" Target="https://github.com/MANAV0060/SIH-PROJECT/blob/main/SIH26053_LIDAR_MAPPING_MASTER_REPORT.md#7-market-opportunity-tam-sam-som--procurement-strategy" TargetMode="External"/><Relationship Id="rId10" Type="http://schemas.openxmlformats.org/officeDocument/2006/relationships/hyperlink" Target="https://github.com/MANAV0060/SIH-PROJECT" TargetMode="External"/><Relationship Id="rId11" Type="http://schemas.openxmlformats.org/officeDocument/2006/relationships/hyperlink" Target="https://github.com/MANAV0060/SIH-PROJECT#web-visualizer" TargetMode="External"/><Relationship Id="rId12" Type="http://schemas.openxmlformats.org/officeDocument/2006/relationships/hyperlink" Target="https://github.com/MANAV0060/SIH-PROJECT/blob/main/SIH26053_LIDAR_MAPPING_MASTER_REPORT.md#5-computational-feasibility--embedded-hardware-swap-benchmarks" TargetMode="External"/><Relationship Id="rId13" Type="http://schemas.openxmlformats.org/officeDocument/2006/relationships/hyperlink" Target="https://github.com/MANAV0060/SIH-PROJECT/tree/main/Digital_Tw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194560" cy="9412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B94"/>
                </a:solidFill>
              </a:defRPr>
            </a:pPr>
            <a:r>
              <a:t>Team Nullpoint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56032"/>
            <a:ext cx="6309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5B94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86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0F172A"/>
                </a:solidFill>
              </a:defRPr>
            </a:pPr>
            <a:r>
              <a:t>Adaptive Variable Resolution 2.5D Lidar Mapping for Dynamic Environment 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7315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Problem Statement ID – </a:t>
            </a:r>
            <a:r>
              <a:rPr b="0" sz="1550">
                <a:solidFill>
                  <a:srgbClr val="005B94"/>
                </a:solidFill>
              </a:rPr>
              <a:t>SIH26053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Problem Statement Title – </a:t>
            </a:r>
            <a:r>
              <a:rPr b="0" sz="1550">
                <a:solidFill>
                  <a:srgbClr val="0F172A"/>
                </a:solidFill>
              </a:rPr>
              <a:t>Adaptive Variable Resolution 2.5D Lidar Mapping for Dynamic Environment Perception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Ministry / Organization – </a:t>
            </a:r>
            <a:r>
              <a:rPr b="0" sz="1550">
                <a:solidFill>
                  <a:srgbClr val="005B94"/>
                </a:solidFill>
              </a:rPr>
              <a:t>Defence Research and Development Organisation (DRDO)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Theme – </a:t>
            </a:r>
            <a:r>
              <a:rPr b="0" sz="1550">
                <a:solidFill>
                  <a:srgbClr val="0F172A"/>
                </a:solidFill>
              </a:rPr>
              <a:t>Smart Vehicles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PS Category – </a:t>
            </a:r>
            <a:r>
              <a:rPr b="0" sz="1550">
                <a:solidFill>
                  <a:srgbClr val="0F172A"/>
                </a:solidFill>
              </a:rPr>
              <a:t>Software Edition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Team Name (Registered on portal) – </a:t>
            </a:r>
            <a:r>
              <a:rPr b="0" sz="1550">
                <a:solidFill>
                  <a:srgbClr val="005B94"/>
                </a:solidFill>
              </a:rPr>
              <a:t>Nullpoint</a:t>
            </a:r>
          </a:p>
          <a:p>
            <a:pPr>
              <a:spcAft>
                <a:spcPts val="1100"/>
              </a:spcAft>
            </a:pPr>
            <a:r>
              <a:rPr b="1" sz="1550">
                <a:solidFill>
                  <a:srgbClr val="0F172A"/>
                </a:solidFill>
              </a:rPr>
              <a:t>• Target System – </a:t>
            </a:r>
            <a:r>
              <a:rPr b="0" sz="1550">
                <a:solidFill>
                  <a:srgbClr val="0F172A"/>
                </a:solidFill>
              </a:rPr>
              <a:t>Autonomous Ground Vehicles (AGVs) &amp; Tactical Unmanned Rovers</a:t>
            </a:r>
          </a:p>
        </p:txBody>
      </p:sp>
      <p:pic>
        <p:nvPicPr>
          <p:cNvPr id="8" name="Picture 7" descr="sih_bulb_h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03120"/>
            <a:ext cx="3383280" cy="38927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1920240" cy="8236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8229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2410C"/>
                </a:solidFill>
              </a:defRPr>
            </a:pPr>
            <a:r>
              <a:t>Problem at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291840" cy="11887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b="1" sz="1200">
                <a:solidFill>
                  <a:srgbClr val="0F172A"/>
                </a:solidFill>
              </a:rPr>
              <a:t>Compute Bottleneck: </a:t>
            </a:r>
            <a:r>
              <a:rPr sz="1100">
                <a:solidFill>
                  <a:srgbClr val="0F172A"/>
                </a:solidFill>
              </a:rPr>
              <a:t>Raw 3D point clouds (&gt;1.5M pts/sec) choke embedded compute on edge platforms, inducing &gt;120ms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291840" cy="118872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b="1" sz="1200">
                <a:solidFill>
                  <a:srgbClr val="0F172A"/>
                </a:solidFill>
              </a:rPr>
              <a:t>2D Blindness: </a:t>
            </a:r>
            <a:r>
              <a:rPr sz="1100">
                <a:solidFill>
                  <a:srgbClr val="0F172A"/>
                </a:solidFill>
              </a:rPr>
              <a:t>Standard flat 2D costmaps collapse height, missing curbs, potholes, drop-offs, and overhanging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3291840" cy="11887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b="1" sz="1200">
                <a:solidFill>
                  <a:srgbClr val="0F172A"/>
                </a:solidFill>
              </a:rPr>
              <a:t>Memory Overhead: </a:t>
            </a:r>
            <a:r>
              <a:rPr sz="1100">
                <a:solidFill>
                  <a:srgbClr val="0F172A"/>
                </a:solidFill>
              </a:rPr>
              <a:t>Uniform 3D voxelization (OctoMap) consumes &gt;500MB RAM, causing frame buffer starvation on tactical rovers.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3291840" cy="11887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b="1" sz="1200">
                <a:solidFill>
                  <a:srgbClr val="0F172A"/>
                </a:solidFill>
              </a:rPr>
              <a:t>Dynamic Obstacle Smear: </a:t>
            </a:r>
            <a:r>
              <a:rPr sz="1100">
                <a:solidFill>
                  <a:srgbClr val="0F172A"/>
                </a:solidFill>
              </a:rPr>
              <a:t>Moving entities leave phantom trails, corrupting global obstacle maps and triggering emergency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229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7846"/>
                </a:solidFill>
              </a:rPr>
              <a:t>Our Solution  </a:t>
            </a:r>
            <a:r>
              <a:rPr sz="1300" b="1" u="sng">
                <a:solidFill>
                  <a:srgbClr val="005BBB"/>
                </a:solidFill>
                <a:hlinkClick r:id="rId3"/>
              </a:rPr>
              <a:t>[FOVEA-MAP 3D Web Demo ↗]</a:t>
            </a:r>
          </a:p>
        </p:txBody>
      </p:sp>
      <p:pic>
        <p:nvPicPr>
          <p:cNvPr id="10" name="Picture 9" descr="lidar_slide2_foveated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188720"/>
            <a:ext cx="4663440" cy="3063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23360" y="4389120"/>
            <a:ext cx="4663440" cy="1874519"/>
          </a:xfrm>
          <a:prstGeom prst="roundRect">
            <a:avLst/>
          </a:prstGeom>
          <a:solidFill>
            <a:srgbClr val="FE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400"/>
              </a:spcAft>
              <a:defRPr b="1" sz="1400">
                <a:solidFill>
                  <a:srgbClr val="C2410C"/>
                </a:solidFill>
              </a:defRPr>
            </a:pPr>
            <a:r>
              <a:t>Why We Stand Out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Adaptive Foveated Acuity: 5cm cells in reactive zone (0-10m), 20cm mid-range, 50cm horizon.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Full Negative &amp; Positive Hazard Detection: Dedicated Z_min &amp; slope channels detect potholes.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Real-Time Edge Efficiency: &gt;50 FPS (&lt;20ms latency) on NVIDIA Jetson Orin under 15W SWaP.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822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B94"/>
                </a:solidFill>
              </a:defRPr>
            </a:pPr>
            <a:r>
              <a:t>Key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188720"/>
            <a:ext cx="2743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b="1" sz="1150">
                <a:solidFill>
                  <a:srgbClr val="005B94"/>
                </a:solidFill>
              </a:defRPr>
            </a:pPr>
            <a:r>
              <a:t>⚡ Foveated Concentric Grid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5cm to 50cm dynamic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039112"/>
            <a:ext cx="2743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b="1" sz="1150">
                <a:solidFill>
                  <a:srgbClr val="005B94"/>
                </a:solidFill>
              </a:defRPr>
            </a:pPr>
            <a:r>
              <a:t>⚡ Multi-Layer Elevation Tensor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Stores Z_ground, Z_max, Z_min, roughness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889504"/>
            <a:ext cx="2743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b="1" sz="1150">
                <a:solidFill>
                  <a:srgbClr val="005B94"/>
                </a:solidFill>
              </a:defRPr>
            </a:pPr>
            <a:r>
              <a:t>⚡ Patchwork++ Ground Inliers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Fast ground isolation on non-flat terrain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739896"/>
            <a:ext cx="2743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b="1" sz="1150">
                <a:solidFill>
                  <a:srgbClr val="005B94"/>
                </a:solidFill>
              </a:defRPr>
            </a:pPr>
            <a:r>
              <a:t>⚡ Ghost-Free Dynamic Filter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Purges moving target smear in 2 cycles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590288"/>
            <a:ext cx="2743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b="1" sz="1150">
                <a:solidFill>
                  <a:srgbClr val="005B94"/>
                </a:solidFill>
              </a:defRPr>
            </a:pPr>
            <a:r>
              <a:t>⚡ Negative Hazard Channel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Detects potholes, trenches &amp; drop-offs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5440679"/>
            <a:ext cx="2743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b="1" sz="1150">
                <a:solidFill>
                  <a:srgbClr val="005B94"/>
                </a:solidFill>
              </a:defRPr>
            </a:pPr>
            <a:r>
              <a:t>⚡ ROS2 / Autoware Native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Standard /costmap_2d plug-and-play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1920240" cy="823629"/>
          </a:xfrm>
          <a:prstGeom prst="rect">
            <a:avLst/>
          </a:prstGeom>
        </p:spPr>
      </p:pic>
      <p:pic>
        <p:nvPicPr>
          <p:cNvPr id="4" name="Picture 3" descr="lidar_slide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68680"/>
            <a:ext cx="10698480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53712"/>
            <a:ext cx="2029968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1. Input &amp; Grounding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Raw 128-beam 3D LiDAR point cloud @ 20Hz. Patchwork++ cylindrical RANSAC isolates ground plane in 3.4ms.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4553712"/>
            <a:ext cx="2029968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  <a:defRPr b="1" sz="1200">
                <a:solidFill>
                  <a:srgbClr val="005B94"/>
                </a:solidFill>
              </a:defRPr>
            </a:pPr>
            <a:r>
              <a:t>2. Foveated Tessellation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Concentric distance binning: Zone A (5cm, 0-10m), Zone B (20cm, 10-35m), Zone C (50cm). &gt;85% RAM saved.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4553712"/>
            <a:ext cx="2029968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  <a:defRPr b="1" sz="1200">
                <a:solidFill>
                  <a:srgbClr val="0284C7"/>
                </a:solidFill>
              </a:defRPr>
            </a:pPr>
            <a:r>
              <a:t>3. 2.5D Elevation Tensor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Stores Z_max, Z_min, roughness σ_z², and normal vector n. Directly determines slope angle and obstacle height.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4553712"/>
            <a:ext cx="2029968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  <a:defRPr b="1" sz="1200">
                <a:solidFill>
                  <a:srgbClr val="7C3AED"/>
                </a:solidFill>
              </a:defRPr>
            </a:pPr>
            <a:r>
              <a:t>4. Deep Semantic Inference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Sparse Polar CNN with TensorRT INT8 quantization. Predicts dynamic obstacles and terrain masks in 14.2ms (&lt;15W SWaP).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4553712"/>
            <a:ext cx="2029968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300"/>
              </a:spcAft>
              <a:defRPr b="1" sz="1200">
                <a:solidFill>
                  <a:srgbClr val="059669"/>
                </a:solidFill>
              </a:defRPr>
            </a:pPr>
            <a:r>
              <a:t>5. Bayesian Tracking &amp; ROS2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Recursive log-odds evidence update + Kalman filter velocity estimation purges ghost trails. Publishes /costmap_2d.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1920240" cy="82362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868680"/>
            <a:ext cx="2560320" cy="2560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400">
                <a:solidFill>
                  <a:srgbClr val="C2410C"/>
                </a:solidFill>
              </a:defRPr>
            </a:pPr>
            <a:r>
              <a:t>Technical Feasibility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Commercially Proven Stack: Built with ROS2 Humble, CUDA 12, TensorRT INT8, and standard C++20.</a:t>
            </a:r>
            <a:br/>
            <a:r>
              <a:t>• Open Sensor Compatibility: Plug-and-play with Velodyne, Ouster, Hesai, and RoboSense LiDARs.</a:t>
            </a:r>
            <a:br/>
            <a:r>
              <a:t>• Edge-Verified: Validated on NVIDIA Jetson Orin Nano (8GB) under 15W power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2560320" cy="2697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400">
                <a:solidFill>
                  <a:srgbClr val="C2410C"/>
                </a:solidFill>
              </a:defRPr>
            </a:pPr>
            <a:r>
              <a:t>Operational &amp; Environmental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All-Weather Tactical Readiness: Operates in total darkness, dense smoke, dust, and rain with zero optical light dependency.</a:t>
            </a:r>
            <a:br/>
            <a:r>
              <a:t>• GPS-Denied Autonomous Operation: Tightly coupled with wheel odometry and IMU.</a:t>
            </a:r>
            <a:br/>
            <a:r>
              <a:t>• Negative Obstacle Safety: Prevents chassis ditch rollovers and axle fractures.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868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5B94"/>
                </a:solidFill>
              </a:defRPr>
            </a:pPr>
            <a:r>
              <a:t>Benchmark Performance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91840" y="1188720"/>
          <a:ext cx="54864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188720"/>
                <a:gridCol w="1188720"/>
              </a:tblGrid>
              <a:tr h="3733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Flat 2D Costmap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3D Voxel (OctoMap)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FOVEA-MAP (Ours)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Processing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6"/>
                          </a:solidFill>
                        </a:defRPr>
                      </a:pPr>
                      <a:r>
                        <a:t>16.4 ms (61 FPS)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Memory Footprint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540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6"/>
                          </a:solidFill>
                        </a:defRPr>
                      </a:pPr>
                      <a:r>
                        <a:t>38 MB (&gt;88% saved)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Negative Obstacles (Potholes)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Lost / 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Partially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6"/>
                          </a:solidFill>
                        </a:defRPr>
                      </a:pPr>
                      <a:r>
                        <a:t>100% Detected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Curbs &amp; Step Obstacles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Ignored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Noisy / High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6"/>
                          </a:solidFill>
                        </a:defRPr>
                      </a:pPr>
                      <a:r>
                        <a:t>5cm Sharp Edge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Moving Target Ghost Trails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Severe Smear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Severe Smear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7846"/>
                          </a:solidFill>
                        </a:defRPr>
                      </a:pPr>
                      <a:r>
                        <a:t>Purged in 2 Cycles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91840" y="3566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5B94"/>
                </a:solidFill>
              </a:defRPr>
            </a:pPr>
            <a:r>
              <a:t>Development &amp; Implementation Roadmap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91840" y="38862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301752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Phase &amp; Focus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Core Deliverable &amp; Milestone</a:t>
                      </a:r>
                    </a:p>
                  </a:txBody>
                  <a:tcPr>
                    <a:solidFill>
                      <a:srgbClr val="005B9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Phase 1: Lab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Month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Algorithm optimization, CUDA kernels &amp; TensorRT INT8 model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Phase 2: Hardware-in-Loop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Month 4–6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Jetson Orin Nano + Ouster OS1-64 integration on tactical rover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Phase 3: Off-Road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Month 7–9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Dynamic obstacle tracking &amp; negative ditch navigation trials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Phase 4: DRDO AGV Fleet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Month 10–12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Full Autoware/ROS2 stack deployment for autonomous defense AGVs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961120" y="868680"/>
            <a:ext cx="2651760" cy="2560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400">
                <a:solidFill>
                  <a:srgbClr val="005B94"/>
                </a:solidFill>
              </a:defRPr>
            </a:pPr>
            <a:r>
              <a:t>Safety &amp; Maintainability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Zero Memory Leaks: Deterministic memory allocation with zero dynamic heap allocations in inner loop.</a:t>
            </a:r>
            <a:br/>
            <a:r>
              <a:t>• Fault-Tolerant Watchdogs: Sensor dropout detection with graceful fallback to last valid occupancy tensor.</a:t>
            </a:r>
            <a:br/>
            <a:r>
              <a:t>• MISRA C++ Compliant: Production-grade embedded robotics safety.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566160"/>
            <a:ext cx="2651760" cy="2697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400">
                <a:solidFill>
                  <a:srgbClr val="005B94"/>
                </a:solidFill>
              </a:defRPr>
            </a:pPr>
            <a:r>
              <a:t>Atmanirbhar Bharat Strategic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100% Indigenous Software: Zero dependence on proprietary foreign perception engines.</a:t>
            </a:r>
            <a:br/>
            <a:r>
              <a:t>• Slashes Hardware Import Costs: Achieves server-grade perception on low-cost $499 edge kits instead of $5,000 GPU rigs.</a:t>
            </a:r>
            <a:br/>
            <a:r>
              <a:t>• Direct DRDO Tactical Fit: Ready for DAKSH, WHEELED AGVs, and border rovers.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1920240" cy="82362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148840" y="1783080"/>
            <a:ext cx="2468880" cy="246888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Potential Impact on Targeted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24688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  <a:defRPr b="1" sz="1200">
                <a:solidFill>
                  <a:srgbClr val="005B94"/>
                </a:solidFill>
              </a:defRPr>
            </a:pPr>
            <a:r>
              <a:t>🎯 Armed Forces &amp; DRDO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Autonomous reconnaissance, perimeter surveillance, and border casualty evacuation in high-risk conflict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005840"/>
            <a:ext cx="24688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  <a:defRPr b="1" sz="1200">
                <a:solidFill>
                  <a:srgbClr val="005B94"/>
                </a:solidFill>
              </a:defRPr>
            </a:pPr>
            <a:r>
              <a:t>🎯 Autonomous AGVs &amp; Shuttles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Low-cost high-speed navigation for urban smart transit, autonomous logistics, and industrial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24688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  <a:defRPr b="1" sz="1200">
                <a:solidFill>
                  <a:srgbClr val="005B94"/>
                </a:solidFill>
              </a:defRPr>
            </a:pPr>
            <a:r>
              <a:t>🎯 Disaster Search &amp; Rescue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Reliable obstacle traversal through collapsed structures, post-earthquake rubble, and debris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206240"/>
            <a:ext cx="24688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  <a:defRPr b="1" sz="1200">
                <a:solidFill>
                  <a:srgbClr val="005B94"/>
                </a:solidFill>
              </a:defRPr>
            </a:pPr>
            <a:r>
              <a:t>🎯 Mining &amp; Off-Road Industry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Safe navigation through open-pit mines, quarries, and unpaved haulage tracks with zero ditch rollovers.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05840"/>
            <a:ext cx="4846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300"/>
              </a:spcAft>
              <a:defRPr b="1" sz="1400">
                <a:solidFill>
                  <a:srgbClr val="005B94"/>
                </a:solidFill>
              </a:defRPr>
            </a:pPr>
            <a:r>
              <a:t>“ Military &amp; Strategic Impact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Eliminates warfighter casualties by enabling fully unmanned scout rovers to navigate extreme forward terrains, unmapped minefields, and dense tactical ambush environments with zero GPS dependence.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560320"/>
            <a:ext cx="4846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300"/>
              </a:spcAft>
              <a:defRPr b="1" sz="1400">
                <a:solidFill>
                  <a:srgbClr val="0284C7"/>
                </a:solidFill>
              </a:defRPr>
            </a:pPr>
            <a:r>
              <a:t>“ Economic &amp; Computational Impact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Slashes onboard compute payload weight and power by &gt;65%. Eliminates expensive industrial servers by delivering 60+ FPS performance on embedded edge hardware under 15W.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114800"/>
            <a:ext cx="4846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300"/>
              </a:spcAft>
              <a:defRPr b="1" sz="1400">
                <a:solidFill>
                  <a:srgbClr val="107846"/>
                </a:solidFill>
              </a:defRPr>
            </a:pPr>
            <a:r>
              <a:t>“ Operational Safety &amp; Reliability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100% negative obstacle detection (ditches, potholes, drop-offs) drastically reduces ground vehicle roll-overs, wheel entrapments, and chassis fractures during high-speed tactical sorties.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6424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“India's breakthrough foveated 2.5D LiDAR perception engine — delivering military-grade situational awareness with unprecedented edge efficiency.”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09728"/>
            <a:ext cx="1920240" cy="823629"/>
          </a:xfrm>
          <a:prstGeom prst="rect">
            <a:avLst/>
          </a:prstGeom>
        </p:spPr>
      </p:pic>
      <p:pic>
        <p:nvPicPr>
          <p:cNvPr id="4" name="Picture 3" descr="lidar_slide5_tam_sam_s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3474720" cy="2895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06240" y="1005840"/>
            <a:ext cx="23774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200">
                <a:solidFill>
                  <a:srgbClr val="005B94"/>
                </a:solidFill>
              </a:defRPr>
            </a:pPr>
            <a:r>
              <a:t>TAM – Total Addressable Market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$6.2 Billion global market for autonomous defense vehicles, tactical robotics, and smart vehicle LiDAR perception systems by 2030 (22.4% CAGR).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005840"/>
            <a:ext cx="23774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200">
                <a:solidFill>
                  <a:srgbClr val="005B94"/>
                </a:solidFill>
              </a:defRPr>
            </a:pPr>
            <a:r>
              <a:t>SAM – Serviceable Available Market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$1.15 Billion Indian defense modernization, paramilitary border patrol vehicles, and domestic industrial AGVs under Make in India initiatives.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005840"/>
            <a:ext cx="23774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  <a:defRPr b="1" sz="1200">
                <a:solidFill>
                  <a:srgbClr val="005B94"/>
                </a:solidFill>
              </a:defRPr>
            </a:pPr>
            <a:r>
              <a:t>SOM – Serviceable Obtainable Market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$85 Million initial 3-year serviceable market across Indian Army border rovers, DRDO AGV programs, and high-value mining automation fleets.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676656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400"/>
              </a:spcAft>
              <a:defRPr b="1" sz="1350">
                <a:solidFill>
                  <a:srgbClr val="005B94"/>
                </a:solidFill>
              </a:defRPr>
            </a:pPr>
            <a:r>
              <a:t>📚 Academic &amp; Technical References (Verified DOIs)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0F172A"/>
                </a:solidFill>
              </a:rPr>
              <a:t>1) Lim, H., et al., 'Patchwork++: Fast and Robust Ground Segmentation Using 3D LiDAR,' IEEE Transactions on Robotics (T-RO), 2024.</a:t>
            </a:r>
            <a:r>
              <a:rPr sz="950" b="1" u="sng">
                <a:solidFill>
                  <a:srgbClr val="005BBB"/>
                </a:solidFill>
                <a:hlinkClick r:id="rId4"/>
              </a:rPr>
              <a:t> [IEEE T-RO ↗]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0F172A"/>
                </a:solidFill>
              </a:rPr>
              <a:t>2) Fankhauser, P., et al., 'Probabilistic Terrain Mapping for Mobile Robots with Uncertain Localization,' IEEE RA-L, vol. 3, 2018.</a:t>
            </a:r>
            <a:r>
              <a:rPr sz="950" b="1" u="sng">
                <a:solidFill>
                  <a:srgbClr val="005BBB"/>
                </a:solidFill>
                <a:hlinkClick r:id="rId5"/>
              </a:rPr>
              <a:t> [IEEE RA-L ↗]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0F172A"/>
                </a:solidFill>
              </a:rPr>
              <a:t>3) Chodosh, N., et al., 'Deep Elevation Mapping for Off-Road Autonomous Driving,' IEEE ICRA, 2023.</a:t>
            </a:r>
            <a:r>
              <a:rPr sz="950" b="1" u="sng">
                <a:solidFill>
                  <a:srgbClr val="005BBB"/>
                </a:solidFill>
                <a:hlinkClick r:id="rId6"/>
              </a:rPr>
              <a:t> [IEEE ICRA ↗]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0F172A"/>
                </a:solidFill>
              </a:rPr>
              <a:t>4) Hornung, A., et al., 'OctoMap: An Efficient Probabilistic 3D Mapping Framework,' Autonomous Robots, vol. 34, 2013.</a:t>
            </a:r>
            <a:r>
              <a:rPr sz="950" b="1" u="sng">
                <a:solidFill>
                  <a:srgbClr val="005BBB"/>
                </a:solidFill>
                <a:hlinkClick r:id="rId7"/>
              </a:rPr>
              <a:t> [Springer DOI ↗]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46120"/>
            <a:ext cx="4114800" cy="2971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400"/>
              </a:spcAft>
              <a:defRPr b="1" sz="1350">
                <a:solidFill>
                  <a:srgbClr val="005B94"/>
                </a:solidFill>
              </a:defRPr>
            </a:pPr>
            <a:r>
              <a:t>🔗 Live Deliverables &amp; Working Links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1) Master Technical Report: </a:t>
            </a:r>
            <a:r>
              <a:rPr sz="1000" b="1" u="sng">
                <a:solidFill>
                  <a:srgbClr val="005BBB"/>
                </a:solidFill>
                <a:hlinkClick r:id="rId8"/>
              </a:rPr>
              <a:t>[Open Report ↗]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2) TAM-SAM-SOM Defense Model: </a:t>
            </a:r>
            <a:r>
              <a:rPr sz="1000" b="1" u="sng">
                <a:solidFill>
                  <a:srgbClr val="005BBB"/>
                </a:solidFill>
                <a:hlinkClick r:id="rId9"/>
              </a:rPr>
              <a:t>[View Model ↗]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3) GitHub Core Repository: </a:t>
            </a:r>
            <a:r>
              <a:rPr sz="1000" b="1" u="sng">
                <a:solidFill>
                  <a:srgbClr val="005BBB"/>
                </a:solidFill>
                <a:hlinkClick r:id="rId10"/>
              </a:rPr>
              <a:t>[github.com/MANAV0060 ↗]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4) Interactive 3D Web Visualizer: </a:t>
            </a:r>
            <a:r>
              <a:rPr sz="1000" b="1" u="sng">
                <a:solidFill>
                  <a:srgbClr val="005BBB"/>
                </a:solidFill>
                <a:hlinkClick r:id="rId11"/>
              </a:rPr>
              <a:t>[Launch 3D Web App ↗]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5) Jetson Orin Benchmark Logs: </a:t>
            </a:r>
            <a:r>
              <a:rPr sz="1000" b="1" u="sng">
                <a:solidFill>
                  <a:srgbClr val="005BBB"/>
                </a:solidFill>
                <a:hlinkClick r:id="rId12"/>
              </a:rPr>
              <a:t>[View Logs ↗]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6) Digital Twin &amp; AGV Simulation: </a:t>
            </a:r>
            <a:r>
              <a:rPr sz="1000" b="1" u="sng">
                <a:solidFill>
                  <a:srgbClr val="005BBB"/>
                </a:solidFill>
                <a:hlinkClick r:id="rId13"/>
              </a:rPr>
              <a:t>[Open Simulation ↗]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