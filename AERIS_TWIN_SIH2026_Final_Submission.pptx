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png"/><Relationship Id="rId10" Type="http://schemas.openxmlformats.org/officeDocument/2006/relationships/image" Target="../media/image10.png"/><Relationship Id="rId11" Type="http://schemas.openxmlformats.org/officeDocument/2006/relationships/image" Target="../media/image11.png"/><Relationship Id="rId12" Type="http://schemas.openxmlformats.org/officeDocument/2006/relationships/image" Target="../media/image12.png"/><Relationship Id="rId13" Type="http://schemas.openxmlformats.org/officeDocument/2006/relationships/image" Target="../media/image1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hyperlink" Target="https://www.drdo.gov.in/drdo/labs-and-establishments/aeronautical-development-establishment-ade" TargetMode="External"/><Relationship Id="rId4" Type="http://schemas.openxmlformats.org/officeDocument/2006/relationships/hyperlink" Target="https://www.rotax-aircraft-engines.com/" TargetMode="External"/><Relationship Id="rId5" Type="http://schemas.openxmlformats.org/officeDocument/2006/relationships/hyperlink" Target="https://ieeexplore.ieee.org/xpl/RecentIssue.jsp?punumber=7" TargetMode="External"/><Relationship Id="rId6" Type="http://schemas.openxmlformats.org/officeDocument/2006/relationships/hyperlink" Target="https://www.nasa.gov/intelligent-systems-division/discovery-and-systems-health/pcoe/pcoe-data-set-repository/" TargetMode="External"/><Relationship Id="rId7" Type="http://schemas.openxmlformats.org/officeDocument/2006/relationships/hyperlink" Target="https://www.rtca.org/standards/" TargetMode="External"/><Relationship Id="rId8" Type="http://schemas.openxmlformats.org/officeDocument/2006/relationships/hyperlink" Target="https://www.ddpmod.gov.in/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_sih_official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502920"/>
            <a:ext cx="868680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1F497D"/>
                </a:solidFill>
                <a:latin typeface="Times New Roman"/>
              </a:defRPr>
            </a:pPr>
            <a:r>
              <a:t>SMART INDIA HACKATHON 2026</a:t>
            </a:r>
          </a:p>
        </p:txBody>
      </p:sp>
      <p:pic>
        <p:nvPicPr>
          <p:cNvPr id="4" name="Picture 3" descr="sih_head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80" y="347472"/>
            <a:ext cx="1920240" cy="82362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1645920"/>
            <a:ext cx="6949440" cy="4754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50" b="1">
                <a:solidFill>
                  <a:srgbClr val="000000"/>
                </a:solidFill>
                <a:latin typeface="Calibri"/>
              </a:rPr>
              <a:t>• </a:t>
            </a:r>
            <a:r>
              <a:rPr sz="2050" b="1">
                <a:solidFill>
                  <a:srgbClr val="000000"/>
                </a:solidFill>
                <a:latin typeface="Calibri"/>
              </a:rPr>
              <a:t>Problem Statement ID  –  </a:t>
            </a:r>
            <a:r>
              <a:rPr sz="2050" b="1">
                <a:solidFill>
                  <a:srgbClr val="0F172A"/>
                </a:solidFill>
                <a:latin typeface="Calibri"/>
              </a:rPr>
              <a:t>SIH26054</a:t>
            </a:r>
          </a:p>
          <a:p>
            <a:pPr>
              <a:spcBef>
                <a:spcPts val="1300"/>
              </a:spcBef>
            </a:pPr>
            <a:r>
              <a:rPr sz="2050" b="1">
                <a:solidFill>
                  <a:srgbClr val="000000"/>
                </a:solidFill>
                <a:latin typeface="Calibri"/>
              </a:rPr>
              <a:t>• </a:t>
            </a:r>
            <a:r>
              <a:rPr sz="2050" b="1">
                <a:solidFill>
                  <a:srgbClr val="000000"/>
                </a:solidFill>
                <a:latin typeface="Calibri"/>
              </a:rPr>
              <a:t>Problem Statement  Title  –  </a:t>
            </a:r>
            <a:r>
              <a:rPr sz="2050" b="0">
                <a:solidFill>
                  <a:srgbClr val="0F172A"/>
                </a:solidFill>
                <a:latin typeface="Calibri"/>
              </a:rPr>
              <a:t>AI-Enabled Real-Time Digital Twin System for Health Monitoring, Fault Prediction and Mission Reliability Enhancement of Aero Piston Engines used in MALE UAVs</a:t>
            </a:r>
          </a:p>
          <a:p>
            <a:pPr>
              <a:spcBef>
                <a:spcPts val="1300"/>
              </a:spcBef>
            </a:pPr>
            <a:r>
              <a:rPr sz="2050" b="1">
                <a:solidFill>
                  <a:srgbClr val="000000"/>
                </a:solidFill>
                <a:latin typeface="Calibri"/>
              </a:rPr>
              <a:t>• </a:t>
            </a:r>
            <a:r>
              <a:rPr sz="2050" b="1">
                <a:solidFill>
                  <a:srgbClr val="000000"/>
                </a:solidFill>
                <a:latin typeface="Calibri"/>
              </a:rPr>
              <a:t>Theme  –  </a:t>
            </a:r>
            <a:r>
              <a:rPr sz="2050" b="0">
                <a:solidFill>
                  <a:srgbClr val="0F172A"/>
                </a:solidFill>
                <a:latin typeface="Calibri"/>
              </a:rPr>
              <a:t>Defense, Aerospace &amp; Security / Smart Aviation Readiness</a:t>
            </a:r>
          </a:p>
          <a:p>
            <a:pPr>
              <a:spcBef>
                <a:spcPts val="1300"/>
              </a:spcBef>
            </a:pPr>
            <a:r>
              <a:rPr sz="2050" b="1">
                <a:solidFill>
                  <a:srgbClr val="000000"/>
                </a:solidFill>
                <a:latin typeface="Calibri"/>
              </a:rPr>
              <a:t>• </a:t>
            </a:r>
            <a:r>
              <a:rPr sz="2050" b="1">
                <a:solidFill>
                  <a:srgbClr val="000000"/>
                </a:solidFill>
                <a:latin typeface="Calibri"/>
              </a:rPr>
              <a:t>PS Category  –  </a:t>
            </a:r>
            <a:r>
              <a:rPr sz="2050" b="0">
                <a:solidFill>
                  <a:srgbClr val="0F172A"/>
                </a:solidFill>
                <a:latin typeface="Calibri"/>
              </a:rPr>
              <a:t>Software</a:t>
            </a:r>
          </a:p>
          <a:p>
            <a:pPr>
              <a:spcBef>
                <a:spcPts val="1300"/>
              </a:spcBef>
            </a:pPr>
            <a:r>
              <a:rPr sz="2050" b="1">
                <a:solidFill>
                  <a:srgbClr val="000000"/>
                </a:solidFill>
                <a:latin typeface="Calibri"/>
              </a:rPr>
              <a:t>• </a:t>
            </a:r>
            <a:r>
              <a:rPr sz="2050" b="1">
                <a:solidFill>
                  <a:srgbClr val="000000"/>
                </a:solidFill>
                <a:latin typeface="Calibri"/>
              </a:rPr>
              <a:t>Team ID  –  </a:t>
            </a:r>
          </a:p>
          <a:p>
            <a:pPr>
              <a:spcBef>
                <a:spcPts val="1300"/>
              </a:spcBef>
            </a:pPr>
            <a:r>
              <a:rPr sz="2050" b="1">
                <a:solidFill>
                  <a:srgbClr val="000000"/>
                </a:solidFill>
                <a:latin typeface="Calibri"/>
              </a:rPr>
              <a:t>• </a:t>
            </a:r>
            <a:r>
              <a:rPr sz="2050" b="1">
                <a:solidFill>
                  <a:srgbClr val="000000"/>
                </a:solidFill>
                <a:latin typeface="Calibri"/>
              </a:rPr>
              <a:t>Team Name  –  </a:t>
            </a:r>
            <a:r>
              <a:rPr sz="2050" b="0">
                <a:solidFill>
                  <a:srgbClr val="0F172A"/>
                </a:solidFill>
                <a:latin typeface="Calibri"/>
              </a:rPr>
              <a:t>Mindsmiths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182880"/>
            <a:ext cx="8961120" cy="548640"/>
          </a:xfrm>
          <a:prstGeom prst="roundRect">
            <a:avLst/>
          </a:prstGeom>
          <a:solidFill>
            <a:srgbClr val="005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0" bIns="0"/>
          <a:lstStyle/>
          <a:p>
            <a:pPr algn="l">
              <a:defRPr sz="1900" b="1">
                <a:solidFill>
                  <a:srgbClr val="FFFFFF"/>
                </a:solidFill>
              </a:defRPr>
            </a:pPr>
            <a:r>
              <a:t>Proposed Solution / Approach</a:t>
            </a:r>
          </a:p>
        </p:txBody>
      </p:sp>
      <p:pic>
        <p:nvPicPr>
          <p:cNvPr id="3" name="Picture 2" descr="sih_heade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09728"/>
            <a:ext cx="1737360" cy="745189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48640" y="841248"/>
            <a:ext cx="3566160" cy="402336"/>
          </a:xfrm>
          <a:prstGeom prst="roundRect">
            <a:avLst/>
          </a:prstGeom>
          <a:solidFill>
            <a:srgbClr val="005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t>Brief Idea of Proposed Solution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98448"/>
            <a:ext cx="3566160" cy="501091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/>
          <a:lstStyle/>
          <a:p>
            <a:pPr algn="ctr">
              <a:spcBef>
                <a:spcPts val="700"/>
              </a:spcBef>
            </a:pPr>
            <a:r>
              <a:rPr b="1" sz="1250">
                <a:solidFill>
                  <a:srgbClr val="005B94"/>
                </a:solidFill>
              </a:rPr>
              <a:t>• Multi-Modal Digital Twin Software:</a:t>
            </a:r>
            <a:r>
              <a:rPr b="0" sz="1180">
                <a:solidFill>
                  <a:srgbClr val="000000"/>
                </a:solidFill>
              </a:rPr>
              <a:t> Fuses Physics-Informed Neural Networks (PINN) and Extended Kalman Filtering (EKF) calibrated for Rotax 914/915 iS aero engines powering MALE UAVs.</a:t>
            </a:r>
          </a:p>
          <a:p>
            <a:pPr>
              <a:spcBef>
                <a:spcPts val="700"/>
              </a:spcBef>
            </a:pPr>
            <a:r>
              <a:rPr b="1" sz="1250">
                <a:solidFill>
                  <a:srgbClr val="005B94"/>
                </a:solidFill>
              </a:rPr>
              <a:t>• 3-Tier Predictive Horizon:</a:t>
            </a:r>
            <a:r>
              <a:rPr b="0" sz="1180">
                <a:solidFill>
                  <a:srgbClr val="000000"/>
                </a:solidFill>
              </a:rPr>
              <a:t> Ingests 100 Hz sensor telemetry streams (CHT, EGT, MAP, Vibration, Fuel Flow) to forecast critical anomalies 5 to 15 minutes before threshold breaches.</a:t>
            </a:r>
          </a:p>
          <a:p>
            <a:pPr>
              <a:spcBef>
                <a:spcPts val="700"/>
              </a:spcBef>
            </a:pPr>
            <a:r>
              <a:rPr b="1" sz="1250">
                <a:solidFill>
                  <a:srgbClr val="005B94"/>
                </a:solidFill>
              </a:rPr>
              <a:t>• Causal DAG Disambiguation:</a:t>
            </a:r>
            <a:r>
              <a:rPr b="0" sz="1180">
                <a:solidFill>
                  <a:srgbClr val="000000"/>
                </a:solidFill>
              </a:rPr>
              <a:t> Employs Directed Acyclic Graphs &amp; 3-way residual analysis to isolate sensor drift from true mechanical faults, cutting false aborts to &lt;1.5%.</a:t>
            </a:r>
          </a:p>
          <a:p>
            <a:pPr>
              <a:spcBef>
                <a:spcPts val="700"/>
              </a:spcBef>
            </a:pPr>
            <a:r>
              <a:rPr b="1" sz="1250">
                <a:solidFill>
                  <a:srgbClr val="005B94"/>
                </a:solidFill>
              </a:rPr>
              <a:t>• Prescriptive Trim Vectors:</a:t>
            </a:r>
            <a:r>
              <a:rPr b="0" sz="1180">
                <a:solidFill>
                  <a:srgbClr val="000000"/>
                </a:solidFill>
              </a:rPr>
              <a:t> Automatically computes Pareto-optimal throttle and altitude de-rate trims (e.g. -800m descent, 85% throttle) to preserve engine life &amp; sortie recovery.</a:t>
            </a:r>
          </a:p>
          <a:p>
            <a:pPr>
              <a:spcBef>
                <a:spcPts val="700"/>
              </a:spcBef>
            </a:pPr>
            <a:r>
              <a:rPr b="1" sz="1250">
                <a:solidFill>
                  <a:srgbClr val="005B94"/>
                </a:solidFill>
              </a:rPr>
              <a:t>• Software-First Edge Execution:</a:t>
            </a:r>
            <a:r>
              <a:rPr b="0" sz="1180">
                <a:solidFill>
                  <a:srgbClr val="000000"/>
                </a:solidFill>
              </a:rPr>
              <a:t> Highly optimized C++/TensorRT software pipeline running non-intrusively on standard UAV Mission Computers or GCS (&lt;2W CPU) with zero flight interference.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841248"/>
            <a:ext cx="7345375" cy="24871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0" y="914400"/>
            <a:ext cx="71323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005B94"/>
                </a:solidFill>
              </a:defRPr>
            </a:pPr>
            <a:r>
              <a:t>AERIS-TWIN End-to-End Operational Workflow (Software Pipeline)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1225296"/>
            <a:ext cx="1325880" cy="420624"/>
          </a:xfrm>
          <a:prstGeom prst="roundRect">
            <a:avLst/>
          </a:prstGeom>
          <a:solidFill>
            <a:srgbClr val="FCE7F3"/>
          </a:solidFill>
          <a:ln w="15240">
            <a:solidFill>
              <a:srgbClr val="DB2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defRPr sz="1050" b="1">
                <a:solidFill>
                  <a:srgbClr val="BE185D"/>
                </a:solidFill>
              </a:defRPr>
            </a:pPr>
            <a:r>
              <a:t>Start Sortie</a:t>
            </a:r>
          </a:p>
        </p:txBody>
      </p:sp>
      <p:sp>
        <p:nvSpPr>
          <p:cNvPr id="9" name="Down Arrow 8"/>
          <p:cNvSpPr/>
          <p:nvPr/>
        </p:nvSpPr>
        <p:spPr>
          <a:xfrm>
            <a:off x="5029200" y="1673352"/>
            <a:ext cx="182880" cy="219456"/>
          </a:xfrm>
          <a:prstGeom prst="downArrow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480560" y="1920240"/>
            <a:ext cx="1600200" cy="621792"/>
          </a:xfrm>
          <a:prstGeom prst="roundRect">
            <a:avLst/>
          </a:prstGeom>
          <a:solidFill>
            <a:srgbClr val="FEF3C7"/>
          </a:solidFill>
          <a:ln w="1524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defRPr sz="1050" b="1">
                <a:solidFill>
                  <a:srgbClr val="0F172A"/>
                </a:solidFill>
              </a:defRPr>
            </a:pPr>
            <a:r>
              <a:t>Telemetry Ingestion</a:t>
            </a:r>
          </a:p>
          <a:p>
            <a:pPr algn="ctr">
              <a:defRPr sz="919">
                <a:solidFill>
                  <a:srgbClr val="000000"/>
                </a:solidFill>
              </a:defRPr>
            </a:pPr>
            <a:r>
              <a:t>5 Hz CHT, EGT, RPM, MAP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6126480" y="2121408"/>
            <a:ext cx="256032" cy="182880"/>
          </a:xfrm>
          <a:prstGeom prst="rightArrow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19088" y="1920240"/>
            <a:ext cx="1783080" cy="621792"/>
          </a:xfrm>
          <a:prstGeom prst="roundRect">
            <a:avLst/>
          </a:prstGeom>
          <a:solidFill>
            <a:srgbClr val="FEF08A"/>
          </a:solidFill>
          <a:ln w="15240">
            <a:solidFill>
              <a:srgbClr val="CA8A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defRPr sz="1050" b="1">
                <a:solidFill>
                  <a:srgbClr val="0F172A"/>
                </a:solidFill>
              </a:defRPr>
            </a:pPr>
            <a:r>
              <a:t>Physics-AI Residuals</a:t>
            </a:r>
          </a:p>
          <a:p>
            <a:pPr algn="ctr">
              <a:defRPr sz="919">
                <a:solidFill>
                  <a:srgbClr val="000000"/>
                </a:solidFill>
              </a:defRPr>
            </a:pPr>
            <a:r>
              <a:t>Thermodynamic Model &amp; DNA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8247888" y="2121408"/>
            <a:ext cx="237744" cy="182880"/>
          </a:xfrm>
          <a:prstGeom prst="rightArrow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iamond 13"/>
          <p:cNvSpPr/>
          <p:nvPr/>
        </p:nvSpPr>
        <p:spPr>
          <a:xfrm>
            <a:off x="8522208" y="1883664"/>
            <a:ext cx="1051560" cy="713232"/>
          </a:xfrm>
          <a:prstGeom prst="diamond">
            <a:avLst/>
          </a:prstGeom>
          <a:solidFill>
            <a:srgbClr val="2563EB"/>
          </a:solidFill>
          <a:ln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Anomaly?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98280" y="1243584"/>
            <a:ext cx="411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15803D"/>
                </a:solidFill>
              </a:defRPr>
            </a:pPr>
            <a:r>
              <a:t>No</a:t>
            </a:r>
          </a:p>
        </p:txBody>
      </p:sp>
      <p:sp>
        <p:nvSpPr>
          <p:cNvPr id="16" name="Up Arrow 15"/>
          <p:cNvSpPr/>
          <p:nvPr/>
        </p:nvSpPr>
        <p:spPr>
          <a:xfrm>
            <a:off x="8961120" y="1572768"/>
            <a:ext cx="182880" cy="274320"/>
          </a:xfrm>
          <a:prstGeom prst="upArrow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555480" y="1225296"/>
            <a:ext cx="1965960" cy="420624"/>
          </a:xfrm>
          <a:prstGeom prst="roundRect">
            <a:avLst/>
          </a:prstGeom>
          <a:solidFill>
            <a:srgbClr val="DCFCE7"/>
          </a:solidFill>
          <a:ln w="1524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defRPr sz="1050" b="1">
                <a:solidFill>
                  <a:srgbClr val="15803D"/>
                </a:solidFill>
              </a:defRPr>
            </a:pPr>
            <a:r>
              <a:t>Nominal Flight (Sortie OK)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0" y="1883664"/>
            <a:ext cx="411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4338CA"/>
                </a:solidFill>
              </a:defRPr>
            </a:pPr>
            <a:r>
              <a:t>Yes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9619488" y="2121408"/>
            <a:ext cx="256032" cy="182880"/>
          </a:xfrm>
          <a:prstGeom prst="rightArrow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912096" y="1920240"/>
            <a:ext cx="1609344" cy="621792"/>
          </a:xfrm>
          <a:prstGeom prst="roundRect">
            <a:avLst/>
          </a:prstGeom>
          <a:solidFill>
            <a:srgbClr val="E0E7FF"/>
          </a:solidFill>
          <a:ln w="1524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defRPr sz="1050" b="1">
                <a:solidFill>
                  <a:srgbClr val="3730A3"/>
                </a:solidFill>
              </a:defRPr>
            </a:pPr>
            <a:r>
              <a:t>Causal DAG Analysis</a:t>
            </a:r>
          </a:p>
          <a:p>
            <a:pPr algn="ctr">
              <a:defRPr sz="919">
                <a:solidFill>
                  <a:srgbClr val="000000"/>
                </a:solidFill>
              </a:defRPr>
            </a:pPr>
            <a:r>
              <a:t>Isolates Injector vs Sensor</a:t>
            </a:r>
          </a:p>
        </p:txBody>
      </p:sp>
      <p:sp>
        <p:nvSpPr>
          <p:cNvPr id="21" name="Down Arrow 20"/>
          <p:cNvSpPr/>
          <p:nvPr/>
        </p:nvSpPr>
        <p:spPr>
          <a:xfrm>
            <a:off x="10607040" y="2578608"/>
            <a:ext cx="182880" cy="219456"/>
          </a:xfrm>
          <a:prstGeom prst="downArrow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601200" y="2834640"/>
            <a:ext cx="1920240" cy="420624"/>
          </a:xfrm>
          <a:prstGeom prst="roundRect">
            <a:avLst/>
          </a:prstGeom>
          <a:solidFill>
            <a:srgbClr val="FFEDD5"/>
          </a:solidFill>
          <a:ln w="1524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defRPr sz="1050" b="1">
                <a:solidFill>
                  <a:srgbClr val="C2410C"/>
                </a:solidFill>
              </a:defRPr>
            </a:pPr>
            <a:r>
              <a:t>Prescriptive Flight Trims</a:t>
            </a:r>
          </a:p>
          <a:p>
            <a:pPr algn="ctr">
              <a:defRPr sz="919">
                <a:solidFill>
                  <a:srgbClr val="000000"/>
                </a:solidFill>
              </a:defRPr>
            </a:pPr>
            <a:r>
              <a:t>Pareto: Step -800m, 85%</a:t>
            </a:r>
          </a:p>
        </p:txBody>
      </p:sp>
      <p:sp>
        <p:nvSpPr>
          <p:cNvPr id="23" name="Left Arrow 22"/>
          <p:cNvSpPr/>
          <p:nvPr/>
        </p:nvSpPr>
        <p:spPr>
          <a:xfrm>
            <a:off x="9189720" y="2944368"/>
            <a:ext cx="347472" cy="182880"/>
          </a:xfrm>
          <a:prstGeom prst="leftArrow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022592" y="2834640"/>
            <a:ext cx="2121408" cy="420624"/>
          </a:xfrm>
          <a:prstGeom prst="roundRect">
            <a:avLst/>
          </a:prstGeom>
          <a:solidFill>
            <a:srgbClr val="FEF3C7"/>
          </a:solidFill>
          <a:ln w="1524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defRPr sz="1050" b="1">
                <a:solidFill>
                  <a:srgbClr val="0F172A"/>
                </a:solidFill>
              </a:defRPr>
            </a:pPr>
            <a:r>
              <a:t>Cockpit Alert &amp; HUD Advisory</a:t>
            </a:r>
          </a:p>
          <a:p>
            <a:pPr algn="ctr">
              <a:defRPr sz="919">
                <a:solidFill>
                  <a:srgbClr val="000000"/>
                </a:solidFill>
              </a:defRPr>
            </a:pPr>
            <a:r>
              <a:t>FADEC Synchronized Sync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80560" y="2834640"/>
            <a:ext cx="2423160" cy="420624"/>
          </a:xfrm>
          <a:prstGeom prst="roundRect">
            <a:avLst/>
          </a:prstGeom>
          <a:solidFill>
            <a:srgbClr val="FEF3C7"/>
          </a:solidFill>
          <a:ln w="1524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defRPr sz="1050" b="1">
                <a:solidFill>
                  <a:srgbClr val="0F172A"/>
                </a:solidFill>
              </a:defRPr>
            </a:pPr>
            <a:r>
              <a:t>Sensor Guard Hub (Trust T)</a:t>
            </a:r>
          </a:p>
          <a:p>
            <a:pPr algn="ctr">
              <a:defRPr sz="919">
                <a:solidFill>
                  <a:srgbClr val="000000"/>
                </a:solidFill>
              </a:defRPr>
            </a:pPr>
            <a:r>
              <a:t>8σ Noise &amp; Spoof Filter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97680" y="3429000"/>
            <a:ext cx="7345375" cy="2880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400800" y="3529584"/>
            <a:ext cx="3108960" cy="402336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t>Innovation and Uniqueness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407408" y="4078224"/>
            <a:ext cx="1353312" cy="2121408"/>
          </a:xfrm>
          <a:prstGeom prst="roundRect">
            <a:avLst/>
          </a:prstGeom>
          <a:solidFill>
            <a:srgbClr val="FEF3C7"/>
          </a:solidFill>
          <a:ln w="1778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09728"/>
          <a:lstStyle/>
          <a:p>
            <a:pPr algn="ctr">
              <a:defRPr sz="1100" b="1">
                <a:solidFill>
                  <a:srgbClr val="0F172A"/>
                </a:solidFill>
              </a:defRPr>
            </a:pPr>
            <a:r>
              <a:t>Sensor Integrity</a:t>
            </a:r>
            <a:br/>
            <a:r>
              <a:t>Guard</a:t>
            </a:r>
          </a:p>
          <a:p>
            <a:pPr algn="ctr">
              <a:spcBef>
                <a:spcPts val="600"/>
              </a:spcBef>
              <a:defRPr sz="960">
                <a:solidFill>
                  <a:srgbClr val="000000"/>
                </a:solidFill>
              </a:defRPr>
            </a:pPr>
            <a:r>
              <a:t>Trust Index T in [0,1]; 8σ statistical spike test; rejects cyber-spoofing.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852160" y="4078224"/>
            <a:ext cx="1353312" cy="2121408"/>
          </a:xfrm>
          <a:prstGeom prst="roundRect">
            <a:avLst/>
          </a:prstGeom>
          <a:solidFill>
            <a:srgbClr val="FEF9C3"/>
          </a:solidFill>
          <a:ln w="17780">
            <a:solidFill>
              <a:srgbClr val="CA8A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09728"/>
          <a:lstStyle/>
          <a:p>
            <a:pPr algn="ctr">
              <a:defRPr sz="1100" b="1">
                <a:solidFill>
                  <a:srgbClr val="0F172A"/>
                </a:solidFill>
              </a:defRPr>
            </a:pPr>
            <a:r>
              <a:t>Personalized</a:t>
            </a:r>
            <a:br/>
            <a:r>
              <a:t>Engine DNA</a:t>
            </a:r>
          </a:p>
          <a:p>
            <a:pPr algn="ctr">
              <a:spcBef>
                <a:spcPts val="600"/>
              </a:spcBef>
              <a:defRPr sz="960">
                <a:solidFill>
                  <a:srgbClr val="000000"/>
                </a:solidFill>
              </a:defRPr>
            </a:pPr>
            <a:r>
              <a:t>Serial-specific wear profiling with online anti-poisoning gating.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296912" y="4078224"/>
            <a:ext cx="1353312" cy="2121408"/>
          </a:xfrm>
          <a:prstGeom prst="roundRect">
            <a:avLst/>
          </a:prstGeom>
          <a:solidFill>
            <a:srgbClr val="DCFCE7"/>
          </a:solidFill>
          <a:ln w="1778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09728"/>
          <a:lstStyle/>
          <a:p>
            <a:pPr algn="ctr">
              <a:defRPr sz="1100" b="1">
                <a:solidFill>
                  <a:srgbClr val="0F172A"/>
                </a:solidFill>
              </a:defRPr>
            </a:pPr>
            <a:r>
              <a:t>3-Way Residual</a:t>
            </a:r>
            <a:br/>
            <a:r>
              <a:t>Disambiguator</a:t>
            </a:r>
          </a:p>
          <a:p>
            <a:pPr algn="ctr">
              <a:spcBef>
                <a:spcPts val="600"/>
              </a:spcBef>
              <a:defRPr sz="960">
                <a:solidFill>
                  <a:srgbClr val="000000"/>
                </a:solidFill>
              </a:defRPr>
            </a:pPr>
            <a:r>
              <a:t>Physical wear vs sensor drift vs model split; zero false aborts.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741664" y="4078224"/>
            <a:ext cx="1353312" cy="2121408"/>
          </a:xfrm>
          <a:prstGeom prst="roundRect">
            <a:avLst/>
          </a:prstGeom>
          <a:solidFill>
            <a:srgbClr val="FFE4E6"/>
          </a:solidFill>
          <a:ln w="1778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09728"/>
          <a:lstStyle/>
          <a:p>
            <a:pPr algn="ctr">
              <a:defRPr sz="1100" b="1">
                <a:solidFill>
                  <a:srgbClr val="0F172A"/>
                </a:solidFill>
              </a:defRPr>
            </a:pPr>
            <a:r>
              <a:t>Ensemble</a:t>
            </a:r>
            <a:br/>
            <a:r>
              <a:t>Quantile RUL</a:t>
            </a:r>
          </a:p>
          <a:p>
            <a:pPr algn="ctr">
              <a:spcBef>
                <a:spcPts val="600"/>
              </a:spcBef>
              <a:defRPr sz="960">
                <a:solidFill>
                  <a:srgbClr val="000000"/>
                </a:solidFill>
              </a:defRPr>
            </a:pPr>
            <a:r>
              <a:t>LSTM + Physics hybrid; Q10/Q50/Q90 envelopes; 29.3% variance cut.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186416" y="4078224"/>
            <a:ext cx="1353312" cy="2121408"/>
          </a:xfrm>
          <a:prstGeom prst="roundRect">
            <a:avLst/>
          </a:prstGeom>
          <a:solidFill>
            <a:srgbClr val="CCFBF1"/>
          </a:solidFill>
          <a:ln w="1778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09728"/>
          <a:lstStyle/>
          <a:p>
            <a:pPr algn="ctr">
              <a:defRPr sz="1100" b="1">
                <a:solidFill>
                  <a:srgbClr val="0F172A"/>
                </a:solidFill>
              </a:defRPr>
            </a:pPr>
            <a:r>
              <a:t>Prescriptive</a:t>
            </a:r>
            <a:br/>
            <a:r>
              <a:t>Flight Trims</a:t>
            </a:r>
          </a:p>
          <a:p>
            <a:pPr algn="ctr">
              <a:spcBef>
                <a:spcPts val="600"/>
              </a:spcBef>
              <a:defRPr sz="960">
                <a:solidFill>
                  <a:srgbClr val="000000"/>
                </a:solidFill>
              </a:defRPr>
            </a:pPr>
            <a:r>
              <a:t>Calculates Pareto trims (-800m, 85% throttle); saves engine &amp; sortie.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05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3200" y="6473952"/>
            <a:ext cx="6705295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SMART INDIA HACKATHON 2026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0" y="6473952"/>
            <a:ext cx="9144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182880"/>
            <a:ext cx="8961120" cy="548640"/>
          </a:xfrm>
          <a:prstGeom prst="roundRect">
            <a:avLst/>
          </a:prstGeom>
          <a:solidFill>
            <a:srgbClr val="005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0" bIns="0"/>
          <a:lstStyle/>
          <a:p>
            <a:pPr algn="l">
              <a:defRPr sz="1900" b="1">
                <a:solidFill>
                  <a:srgbClr val="FFFFFF"/>
                </a:solidFill>
              </a:defRPr>
            </a:pPr>
            <a:r>
              <a:t>Technical Approach</a:t>
            </a:r>
          </a:p>
        </p:txBody>
      </p:sp>
      <p:pic>
        <p:nvPicPr>
          <p:cNvPr id="3" name="Picture 2" descr="sih_heade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09728"/>
            <a:ext cx="1737360" cy="745189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48640" y="841248"/>
            <a:ext cx="832104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932688"/>
            <a:ext cx="1938528" cy="4754880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950976"/>
            <a:ext cx="1938528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 b="1">
                <a:solidFill>
                  <a:srgbClr val="005B94"/>
                </a:solidFill>
              </a:defRPr>
            </a:pPr>
            <a:r>
              <a:t>Zone 1</a:t>
            </a:r>
            <a:br/>
            <a:r>
              <a:t>Ingested Telemetry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2376" y="1463040"/>
            <a:ext cx="1810512" cy="12527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18288"/>
          <a:lstStyle/>
          <a:p>
            <a:pPr algn="ctr">
              <a:defRPr sz="1000" b="1">
                <a:solidFill>
                  <a:srgbClr val="0F172A"/>
                </a:solidFill>
              </a:defRPr>
            </a:pPr>
            <a:r>
              <a:t>Rotax 914/915 Sensor Suite</a:t>
            </a:r>
          </a:p>
          <a:p>
            <a:pPr algn="ctr">
              <a:defRPr sz="900">
                <a:solidFill>
                  <a:srgbClr val="000000"/>
                </a:solidFill>
              </a:defRPr>
            </a:pPr>
            <a:r>
              <a:t>4x CHT &amp; 4x EGT Probes</a:t>
            </a:r>
            <a:br/>
            <a:r>
              <a:t>MAP &amp; Crankshaft RPM</a:t>
            </a:r>
            <a:br/>
            <a:r>
              <a:t>Piezo Oil &amp; Flowmeter</a:t>
            </a:r>
            <a:br/>
            <a:r>
              <a:t>High-G Vibration Probes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6" y="2788920"/>
            <a:ext cx="1810512" cy="12527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18288"/>
          <a:lstStyle/>
          <a:p>
            <a:pPr algn="ctr">
              <a:defRPr sz="1000" b="1">
                <a:solidFill>
                  <a:srgbClr val="0F172A"/>
                </a:solidFill>
              </a:defRPr>
            </a:pPr>
            <a:r>
              <a:t>Aircraft Bus Interface</a:t>
            </a:r>
          </a:p>
          <a:p>
            <a:pPr algn="ctr">
              <a:defRPr sz="900">
                <a:solidFill>
                  <a:srgbClr val="000000"/>
                </a:solidFill>
              </a:defRPr>
            </a:pPr>
            <a:r>
              <a:t>28V DC MIL-STD-704F</a:t>
            </a:r>
            <a:br/>
            <a:r>
              <a:t>Passive Sniffer Driver</a:t>
            </a:r>
            <a:br/>
            <a:r>
              <a:t>&lt; 2W Operational Draw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2376" y="4114800"/>
            <a:ext cx="1810512" cy="12527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18288"/>
          <a:lstStyle/>
          <a:p>
            <a:pPr algn="ctr">
              <a:defRPr sz="1000" b="1">
                <a:solidFill>
                  <a:srgbClr val="0F172A"/>
                </a:solidFill>
              </a:defRPr>
            </a:pPr>
            <a:r>
              <a:t>Ambient Telemetry</a:t>
            </a:r>
          </a:p>
          <a:p>
            <a:pPr algn="ctr">
              <a:defRPr sz="900">
                <a:solidFill>
                  <a:srgbClr val="000000"/>
                </a:solidFill>
              </a:defRPr>
            </a:pPr>
            <a:r>
              <a:t>Altitude Barometer</a:t>
            </a:r>
            <a:br/>
            <a:r>
              <a:t>Ambient Air Density</a:t>
            </a:r>
            <a:br/>
            <a:r>
              <a:t>GPS-Denied Local Clock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06624" y="932688"/>
            <a:ext cx="1938528" cy="4754880"/>
          </a:xfrm>
          <a:prstGeom prst="roundRect">
            <a:avLst/>
          </a:prstGeom>
          <a:solidFill>
            <a:srgbClr val="F0FDF4"/>
          </a:solidFill>
          <a:ln w="1524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06624" y="950976"/>
            <a:ext cx="1938528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 b="1">
                <a:solidFill>
                  <a:srgbClr val="005B94"/>
                </a:solidFill>
              </a:defRPr>
            </a:pPr>
            <a:r>
              <a:t>Zone 2</a:t>
            </a:r>
            <a:br/>
            <a:r>
              <a:t>Edge Computing Stack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70632" y="1463040"/>
            <a:ext cx="1810512" cy="72237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18288"/>
          <a:lstStyle/>
          <a:p>
            <a:pPr algn="ctr">
              <a:defRPr sz="950" b="1">
                <a:solidFill>
                  <a:srgbClr val="0F172A"/>
                </a:solidFill>
              </a:defRPr>
            </a:pPr>
            <a:r>
              <a:t>CAN / ARINC Driver</a:t>
            </a:r>
          </a:p>
          <a:p>
            <a:pPr algn="ctr">
              <a:defRPr sz="860">
                <a:solidFill>
                  <a:srgbClr val="000000"/>
                </a:solidFill>
              </a:defRPr>
            </a:pPr>
            <a:r>
              <a:t>5 Hz Non-Intrusive Sniffer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70632" y="2258568"/>
            <a:ext cx="1810512" cy="72237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18288"/>
          <a:lstStyle/>
          <a:p>
            <a:pPr algn="ctr">
              <a:defRPr sz="950" b="1">
                <a:solidFill>
                  <a:srgbClr val="0F172A"/>
                </a:solidFill>
              </a:defRPr>
            </a:pPr>
            <a:r>
              <a:t>Sensor Guard Hub</a:t>
            </a:r>
          </a:p>
          <a:p>
            <a:pPr algn="ctr">
              <a:defRPr sz="860">
                <a:solidFill>
                  <a:srgbClr val="000000"/>
                </a:solidFill>
              </a:defRPr>
            </a:pPr>
            <a:r>
              <a:t>Trust Score T &amp; 8σ Spike Check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70632" y="3054096"/>
            <a:ext cx="1810512" cy="72237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18288"/>
          <a:lstStyle/>
          <a:p>
            <a:pPr algn="ctr">
              <a:defRPr sz="950" b="1">
                <a:solidFill>
                  <a:srgbClr val="0F172A"/>
                </a:solidFill>
              </a:defRPr>
            </a:pPr>
            <a:r>
              <a:t>Anti-Poisoning Gateway</a:t>
            </a:r>
          </a:p>
          <a:p>
            <a:pPr algn="ctr">
              <a:defRPr sz="860">
                <a:solidFill>
                  <a:srgbClr val="000000"/>
                </a:solidFill>
              </a:defRPr>
            </a:pPr>
            <a:r>
              <a:t>Rejects Malicious Injections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70632" y="3849623"/>
            <a:ext cx="1810512" cy="72237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18288"/>
          <a:lstStyle/>
          <a:p>
            <a:pPr algn="ctr">
              <a:defRPr sz="950" b="1">
                <a:solidFill>
                  <a:srgbClr val="0F172A"/>
                </a:solidFill>
              </a:defRPr>
            </a:pPr>
            <a:r>
              <a:t>Ring Buffer Telemetry</a:t>
            </a:r>
          </a:p>
          <a:p>
            <a:pPr algn="ctr">
              <a:defRPr sz="860">
                <a:solidFill>
                  <a:srgbClr val="000000"/>
                </a:solidFill>
              </a:defRPr>
            </a:pPr>
            <a:r>
              <a:t>5 Hz Low-Latency Sync Hub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70632" y="4645152"/>
            <a:ext cx="1810512" cy="72237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18288"/>
          <a:lstStyle/>
          <a:p>
            <a:pPr algn="ctr">
              <a:defRPr sz="950" b="1">
                <a:solidFill>
                  <a:srgbClr val="0F172A"/>
                </a:solidFill>
              </a:defRPr>
            </a:pPr>
            <a:r>
              <a:t>Deterministic RTOS</a:t>
            </a:r>
          </a:p>
          <a:p>
            <a:pPr algn="ctr">
              <a:defRPr sz="860">
                <a:solidFill>
                  <a:srgbClr val="000000"/>
                </a:solidFill>
              </a:defRPr>
            </a:pPr>
            <a:r>
              <a:t>Guaranteed 200ms Execution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54880" y="932688"/>
            <a:ext cx="1938528" cy="4754880"/>
          </a:xfrm>
          <a:prstGeom prst="roundRect">
            <a:avLst/>
          </a:prstGeom>
          <a:solidFill>
            <a:srgbClr val="FAF5FF"/>
          </a:solidFill>
          <a:ln w="15240">
            <a:solidFill>
              <a:srgbClr val="D8B4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54880" y="950976"/>
            <a:ext cx="1938528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 b="1">
                <a:solidFill>
                  <a:srgbClr val="005B94"/>
                </a:solidFill>
              </a:defRPr>
            </a:pPr>
            <a:r>
              <a:t>Zone 3</a:t>
            </a:r>
            <a:br/>
            <a:r>
              <a:t>Digital Twin AI Core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818888" y="1463040"/>
            <a:ext cx="1810512" cy="72237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B4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18288"/>
          <a:lstStyle/>
          <a:p>
            <a:pPr algn="ctr">
              <a:defRPr sz="950" b="1">
                <a:solidFill>
                  <a:srgbClr val="0F172A"/>
                </a:solidFill>
              </a:defRPr>
            </a:pPr>
            <a:r>
              <a:t>Thermodynamic Twin</a:t>
            </a:r>
          </a:p>
          <a:p>
            <a:pPr algn="ctr">
              <a:defRPr sz="860">
                <a:solidFill>
                  <a:srgbClr val="000000"/>
                </a:solidFill>
              </a:defRPr>
            </a:pPr>
            <a:r>
              <a:t>First-principles energy model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818888" y="2258568"/>
            <a:ext cx="1810512" cy="72237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B4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18288"/>
          <a:lstStyle/>
          <a:p>
            <a:pPr algn="ctr">
              <a:defRPr sz="950" b="1">
                <a:solidFill>
                  <a:srgbClr val="0F172A"/>
                </a:solidFill>
              </a:defRPr>
            </a:pPr>
            <a:r>
              <a:t>Personalized Engine DNA</a:t>
            </a:r>
          </a:p>
          <a:p>
            <a:pPr algn="ctr">
              <a:defRPr sz="860">
                <a:solidFill>
                  <a:srgbClr val="000000"/>
                </a:solidFill>
              </a:defRPr>
            </a:pPr>
            <a:r>
              <a:t>Serial-specific wear vectors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818888" y="3054096"/>
            <a:ext cx="1810512" cy="72237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B4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18288"/>
          <a:lstStyle/>
          <a:p>
            <a:pPr algn="ctr">
              <a:defRPr sz="950" b="1">
                <a:solidFill>
                  <a:srgbClr val="0F172A"/>
                </a:solidFill>
              </a:defRPr>
            </a:pPr>
            <a:r>
              <a:t>Causal Inference DAG</a:t>
            </a:r>
          </a:p>
          <a:p>
            <a:pPr algn="ctr">
              <a:defRPr sz="860">
                <a:solidFill>
                  <a:srgbClr val="000000"/>
                </a:solidFill>
              </a:defRPr>
            </a:pPr>
            <a:r>
              <a:t>Root-cause fault isolation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818888" y="3849623"/>
            <a:ext cx="1810512" cy="72237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B4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18288"/>
          <a:lstStyle/>
          <a:p>
            <a:pPr algn="ctr">
              <a:defRPr sz="950" b="1">
                <a:solidFill>
                  <a:srgbClr val="0F172A"/>
                </a:solidFill>
              </a:defRPr>
            </a:pPr>
            <a:r>
              <a:t>Hybrid LSTM-RUL</a:t>
            </a:r>
          </a:p>
          <a:p>
            <a:pPr algn="ctr">
              <a:defRPr sz="860">
                <a:solidFill>
                  <a:srgbClr val="000000"/>
                </a:solidFill>
              </a:defRPr>
            </a:pPr>
            <a:r>
              <a:t>Conformal 90% Q10/Q50/Q90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818888" y="4645152"/>
            <a:ext cx="1810512" cy="72237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B4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18288"/>
          <a:lstStyle/>
          <a:p>
            <a:pPr algn="ctr">
              <a:defRPr sz="950" b="1">
                <a:solidFill>
                  <a:srgbClr val="0F172A"/>
                </a:solidFill>
              </a:defRPr>
            </a:pPr>
            <a:r>
              <a:t>Monte Carlo Mission</a:t>
            </a:r>
          </a:p>
          <a:p>
            <a:pPr algn="ctr">
              <a:defRPr sz="860">
                <a:solidFill>
                  <a:srgbClr val="000000"/>
                </a:solidFill>
              </a:defRPr>
            </a:pPr>
            <a:r>
              <a:t>500 stochastic projections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03136" y="932688"/>
            <a:ext cx="1938528" cy="4754880"/>
          </a:xfrm>
          <a:prstGeom prst="roundRect">
            <a:avLst/>
          </a:prstGeom>
          <a:solidFill>
            <a:srgbClr val="ECFEFF"/>
          </a:solidFill>
          <a:ln w="15240">
            <a:solidFill>
              <a:srgbClr val="67E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03136" y="950976"/>
            <a:ext cx="1938528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 b="1">
                <a:solidFill>
                  <a:srgbClr val="005B94"/>
                </a:solidFill>
              </a:defRPr>
            </a:pPr>
            <a:r>
              <a:t>Zone 4</a:t>
            </a:r>
            <a:br/>
            <a:r>
              <a:t>Cockpit &amp; GCS Output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67144" y="1463040"/>
            <a:ext cx="1810512" cy="72237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7E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18288"/>
          <a:lstStyle/>
          <a:p>
            <a:pPr algn="ctr">
              <a:defRPr sz="950" b="1">
                <a:solidFill>
                  <a:srgbClr val="0F172A"/>
                </a:solidFill>
              </a:defRPr>
            </a:pPr>
            <a:r>
              <a:t>FADEC Harmonizer</a:t>
            </a:r>
          </a:p>
          <a:p>
            <a:pPr algn="ctr">
              <a:defRPr sz="860">
                <a:solidFill>
                  <a:srgbClr val="000000"/>
                </a:solidFill>
              </a:defRPr>
            </a:pPr>
            <a:r>
              <a:t>5-15 min pre-alarm advisory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67144" y="2258568"/>
            <a:ext cx="1810512" cy="72237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7E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18288"/>
          <a:lstStyle/>
          <a:p>
            <a:pPr algn="ctr">
              <a:defRPr sz="950" b="1">
                <a:solidFill>
                  <a:srgbClr val="0F172A"/>
                </a:solidFill>
              </a:defRPr>
            </a:pPr>
            <a:r>
              <a:t>Counterfactual Engine</a:t>
            </a:r>
          </a:p>
          <a:p>
            <a:pPr algn="ctr">
              <a:defRPr sz="860">
                <a:solidFill>
                  <a:srgbClr val="000000"/>
                </a:solidFill>
              </a:defRPr>
            </a:pPr>
            <a:r>
              <a:t>Pareto optimal altitude/trim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67144" y="3054096"/>
            <a:ext cx="1810512" cy="72237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7E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18288"/>
          <a:lstStyle/>
          <a:p>
            <a:pPr algn="ctr">
              <a:defRPr sz="950" b="1">
                <a:solidFill>
                  <a:srgbClr val="0F172A"/>
                </a:solidFill>
              </a:defRPr>
            </a:pPr>
            <a:r>
              <a:t>Cockpit MFD OLED Unit</a:t>
            </a:r>
          </a:p>
          <a:p>
            <a:pPr algn="ctr">
              <a:defRPr sz="860">
                <a:solidFill>
                  <a:srgbClr val="000000"/>
                </a:solidFill>
              </a:defRPr>
            </a:pPr>
            <a:r>
              <a:t>Real-time ASI &amp; RUL margin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67144" y="3849623"/>
            <a:ext cx="1810512" cy="72237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7E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18288"/>
          <a:lstStyle/>
          <a:p>
            <a:pPr algn="ctr">
              <a:defRPr sz="950" b="1">
                <a:solidFill>
                  <a:srgbClr val="0F172A"/>
                </a:solidFill>
              </a:defRPr>
            </a:pPr>
            <a:r>
              <a:t>Mobile GCS HUD</a:t>
            </a:r>
          </a:p>
          <a:p>
            <a:pPr algn="ctr">
              <a:defRPr sz="860">
                <a:solidFill>
                  <a:srgbClr val="000000"/>
                </a:solidFill>
              </a:defRPr>
            </a:pPr>
            <a:r>
              <a:t>Encrypted pilot situational tablet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67144" y="4645152"/>
            <a:ext cx="1810512" cy="72237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7E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18288"/>
          <a:lstStyle/>
          <a:p>
            <a:pPr algn="ctr">
              <a:defRPr sz="950" b="1">
                <a:solidFill>
                  <a:srgbClr val="0F172A"/>
                </a:solidFill>
              </a:defRPr>
            </a:pPr>
            <a:r>
              <a:t>SHA-256 Black Box</a:t>
            </a:r>
          </a:p>
          <a:p>
            <a:pPr algn="ctr">
              <a:defRPr sz="860">
                <a:solidFill>
                  <a:srgbClr val="000000"/>
                </a:solidFill>
              </a:defRPr>
            </a:pPr>
            <a:r>
              <a:t>Immutable military audit log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5852160"/>
            <a:ext cx="8321040" cy="493776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5888736"/>
            <a:ext cx="11887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5B94"/>
                </a:solidFill>
              </a:defRPr>
            </a:pPr>
            <a:r>
              <a:t>Tech Stack: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920240" y="5907024"/>
            <a:ext cx="1078992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5B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05B94"/>
                </a:solidFill>
              </a:defRPr>
            </a:pPr>
            <a:r>
              <a:t>Embedded C/C++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063240" y="5907024"/>
            <a:ext cx="1078992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5B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05B94"/>
                </a:solidFill>
              </a:defRPr>
            </a:pPr>
            <a:r>
              <a:t>PyTorch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206240" y="5907024"/>
            <a:ext cx="1078992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5B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05B94"/>
                </a:solidFill>
              </a:defRPr>
            </a:pPr>
            <a:r>
              <a:t>TensorRT INT8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349240" y="5907024"/>
            <a:ext cx="1078992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5B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05B94"/>
                </a:solidFill>
              </a:defRPr>
            </a:pPr>
            <a:r>
              <a:t>FreeRTOS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92240" y="5907024"/>
            <a:ext cx="1078992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5B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05B94"/>
                </a:solidFill>
              </a:defRPr>
            </a:pPr>
            <a:r>
              <a:t>CANAerospace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635240" y="5907024"/>
            <a:ext cx="1078992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5B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05B94"/>
                </a:solidFill>
              </a:defRPr>
            </a:pPr>
            <a:r>
              <a:t>ROS2 / MAVLink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006840" y="841248"/>
            <a:ext cx="2633472" cy="550468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098280" y="932688"/>
            <a:ext cx="245059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50" b="1">
                <a:solidFill>
                  <a:srgbClr val="BE185D"/>
                </a:solidFill>
              </a:defRPr>
            </a:pPr>
            <a:r>
              <a:t>Implementation Process</a:t>
            </a:r>
          </a:p>
        </p:txBody>
      </p:sp>
      <p:sp>
        <p:nvSpPr>
          <p:cNvPr id="41" name="Oval 40"/>
          <p:cNvSpPr/>
          <p:nvPr/>
        </p:nvSpPr>
        <p:spPr>
          <a:xfrm>
            <a:off x="9125712" y="1499616"/>
            <a:ext cx="420624" cy="420624"/>
          </a:xfrm>
          <a:prstGeom prst="ellipse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19488" y="1444752"/>
            <a:ext cx="1965960" cy="7680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Telemetry Ingestion</a:t>
            </a:r>
          </a:p>
          <a:p>
            <a:pPr>
              <a:defRPr sz="950">
                <a:solidFill>
                  <a:srgbClr val="000000"/>
                </a:solidFill>
              </a:defRPr>
            </a:pPr>
            <a:r>
              <a:t>5 Hz Rotax CAN bus streaming captures engine sensor state.</a:t>
            </a:r>
          </a:p>
        </p:txBody>
      </p:sp>
      <p:sp>
        <p:nvSpPr>
          <p:cNvPr id="43" name="Oval 42"/>
          <p:cNvSpPr/>
          <p:nvPr/>
        </p:nvSpPr>
        <p:spPr>
          <a:xfrm>
            <a:off x="9125712" y="2304288"/>
            <a:ext cx="420624" cy="420624"/>
          </a:xfrm>
          <a:prstGeom prst="ellipse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619488" y="2249424"/>
            <a:ext cx="1965960" cy="7680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Sensor Integrity Check</a:t>
            </a:r>
          </a:p>
          <a:p>
            <a:pPr>
              <a:defRPr sz="950">
                <a:solidFill>
                  <a:srgbClr val="000000"/>
                </a:solidFill>
              </a:defRPr>
            </a:pPr>
            <a:r>
              <a:t>Computes Trust Index T in [0,1]; rejects noise &amp; spoofing.</a:t>
            </a:r>
          </a:p>
        </p:txBody>
      </p:sp>
      <p:sp>
        <p:nvSpPr>
          <p:cNvPr id="45" name="Oval 44"/>
          <p:cNvSpPr/>
          <p:nvPr/>
        </p:nvSpPr>
        <p:spPr>
          <a:xfrm>
            <a:off x="9125712" y="3108960"/>
            <a:ext cx="420624" cy="420624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619488" y="3054096"/>
            <a:ext cx="1965960" cy="7680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Digital Twin Modeling</a:t>
            </a:r>
          </a:p>
          <a:p>
            <a:pPr>
              <a:defRPr sz="950">
                <a:solidFill>
                  <a:srgbClr val="000000"/>
                </a:solidFill>
              </a:defRPr>
            </a:pPr>
            <a:r>
              <a:t>Thermodynamic energy residuals compared with engine DNA.</a:t>
            </a:r>
          </a:p>
        </p:txBody>
      </p:sp>
      <p:sp>
        <p:nvSpPr>
          <p:cNvPr id="47" name="Oval 46"/>
          <p:cNvSpPr/>
          <p:nvPr/>
        </p:nvSpPr>
        <p:spPr>
          <a:xfrm>
            <a:off x="9125712" y="3913632"/>
            <a:ext cx="420624" cy="420624"/>
          </a:xfrm>
          <a:prstGeom prst="ellipse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619488" y="3858768"/>
            <a:ext cx="1965960" cy="7680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Causal Root-Cause DAG</a:t>
            </a:r>
          </a:p>
          <a:p>
            <a:pPr>
              <a:defRPr sz="950">
                <a:solidFill>
                  <a:srgbClr val="000000"/>
                </a:solidFill>
              </a:defRPr>
            </a:pPr>
            <a:r>
              <a:t>SHAP + do-calculus isolates true root injector/bearing fault.</a:t>
            </a:r>
          </a:p>
        </p:txBody>
      </p:sp>
      <p:sp>
        <p:nvSpPr>
          <p:cNvPr id="49" name="Oval 48"/>
          <p:cNvSpPr/>
          <p:nvPr/>
        </p:nvSpPr>
        <p:spPr>
          <a:xfrm>
            <a:off x="9125712" y="4718303"/>
            <a:ext cx="420624" cy="420624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619488" y="4663440"/>
            <a:ext cx="1965960" cy="7680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Prescriptive Flight Trim</a:t>
            </a:r>
          </a:p>
          <a:p>
            <a:pPr>
              <a:defRPr sz="950">
                <a:solidFill>
                  <a:srgbClr val="000000"/>
                </a:solidFill>
              </a:defRPr>
            </a:pPr>
            <a:r>
              <a:t>Pareto in-flight advisory trims (step -800m, throttle 85%).</a:t>
            </a:r>
          </a:p>
        </p:txBody>
      </p:sp>
      <p:sp>
        <p:nvSpPr>
          <p:cNvPr id="51" name="Oval 50"/>
          <p:cNvSpPr/>
          <p:nvPr/>
        </p:nvSpPr>
        <p:spPr>
          <a:xfrm>
            <a:off x="9125712" y="5522976"/>
            <a:ext cx="420624" cy="420624"/>
          </a:xfrm>
          <a:prstGeom prst="ellipse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619488" y="5468112"/>
            <a:ext cx="1965960" cy="7680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Sortie Logging &amp; Debrief</a:t>
            </a:r>
          </a:p>
          <a:p>
            <a:pPr>
              <a:defRPr sz="950">
                <a:solidFill>
                  <a:srgbClr val="000000"/>
                </a:solidFill>
              </a:defRPr>
            </a:pPr>
            <a:r>
              <a:t>5 Hz SHA-256 black box buffer; auto ground work orders.</a:t>
            </a:r>
          </a:p>
        </p:txBody>
      </p:sp>
      <p:sp>
        <p:nvSpPr>
          <p:cNvPr id="53" name="Rectangle 52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05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743200" y="6473952"/>
            <a:ext cx="6705295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SMART INDIA HACKATHON 2026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972800" y="6473952"/>
            <a:ext cx="9144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182880"/>
            <a:ext cx="8961120" cy="548640"/>
          </a:xfrm>
          <a:prstGeom prst="roundRect">
            <a:avLst/>
          </a:prstGeom>
          <a:solidFill>
            <a:srgbClr val="005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0" bIns="0"/>
          <a:lstStyle/>
          <a:p>
            <a:pPr algn="l">
              <a:defRPr sz="1900" b="1">
                <a:solidFill>
                  <a:srgbClr val="FFFFFF"/>
                </a:solidFill>
              </a:defRPr>
            </a:pPr>
            <a:r>
              <a:t>Feasibility and Viability</a:t>
            </a:r>
          </a:p>
        </p:txBody>
      </p:sp>
      <p:pic>
        <p:nvPicPr>
          <p:cNvPr id="3" name="Picture 2" descr="sih_heade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09728"/>
            <a:ext cx="1737360" cy="745189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48640" y="841248"/>
            <a:ext cx="11094415" cy="551383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89904" y="1051560"/>
            <a:ext cx="18288" cy="507492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053328" y="1024128"/>
            <a:ext cx="91440" cy="91440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053328" y="6126480"/>
            <a:ext cx="91440" cy="91440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" y="2697480"/>
            <a:ext cx="1783080" cy="1783080"/>
          </a:xfrm>
          <a:prstGeom prst="ellipse">
            <a:avLst/>
          </a:prstGeom>
          <a:solidFill>
            <a:srgbClr val="F1F5F9"/>
          </a:solidFill>
          <a:ln w="2286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Potential</a:t>
            </a:r>
          </a:p>
          <a:p>
            <a:pPr algn="ctr">
              <a:defRPr sz="1300" b="1">
                <a:solidFill>
                  <a:srgbClr val="0F172A"/>
                </a:solidFill>
              </a:defRPr>
            </a:pPr>
            <a:r>
              <a:t>Challenges &amp;</a:t>
            </a:r>
          </a:p>
          <a:p>
            <a:pPr algn="ctr">
              <a:defRPr sz="1300" b="1">
                <a:solidFill>
                  <a:srgbClr val="0F172A"/>
                </a:solidFill>
              </a:defRPr>
            </a:pPr>
            <a:r>
              <a:t>Risks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463040" y="3977639"/>
            <a:ext cx="411480" cy="36576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28632" y="2697480"/>
            <a:ext cx="1783080" cy="1783080"/>
          </a:xfrm>
          <a:prstGeom prst="ellipse">
            <a:avLst/>
          </a:prstGeom>
          <a:solidFill>
            <a:srgbClr val="F0FDF4"/>
          </a:solidFill>
          <a:ln w="2286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1300" b="1">
                <a:solidFill>
                  <a:srgbClr val="15803D"/>
                </a:solidFill>
              </a:defRPr>
            </a:pPr>
            <a:r>
              <a:t>Strategies For</a:t>
            </a:r>
          </a:p>
          <a:p>
            <a:pPr algn="ctr">
              <a:defRPr sz="1300" b="1">
                <a:solidFill>
                  <a:srgbClr val="15803D"/>
                </a:solidFill>
              </a:defRPr>
            </a:pPr>
            <a:r>
              <a:t>Overcoming</a:t>
            </a:r>
          </a:p>
          <a:p>
            <a:pPr algn="ctr">
              <a:defRPr sz="1300" b="1">
                <a:solidFill>
                  <a:srgbClr val="15803D"/>
                </a:solidFill>
              </a:defRPr>
            </a:pPr>
            <a:r>
              <a:t>Challenges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314432" y="3977639"/>
            <a:ext cx="411480" cy="36576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24912" y="1536192"/>
            <a:ext cx="27432" cy="409651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560320" y="3575304"/>
            <a:ext cx="164592" cy="2743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436608" y="1536192"/>
            <a:ext cx="27432" cy="409651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464040" y="3575304"/>
            <a:ext cx="164592" cy="2743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24912" y="1522476"/>
            <a:ext cx="128016" cy="2743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834640" y="1316736"/>
            <a:ext cx="438912" cy="438912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15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64992" y="1133856"/>
            <a:ext cx="2560320" cy="804672"/>
          </a:xfrm>
          <a:prstGeom prst="roundRect">
            <a:avLst/>
          </a:prstGeom>
          <a:solidFill>
            <a:srgbClr val="FFF1F2"/>
          </a:solidFill>
          <a:ln w="15240">
            <a:solidFill>
              <a:srgbClr val="FE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>
              <a:defRPr sz="1100" b="1">
                <a:solidFill>
                  <a:srgbClr val="9F1239"/>
                </a:solidFill>
              </a:defRPr>
            </a:pPr>
            <a:r>
              <a:t>Hostile Environmental Extremes:</a:t>
            </a:r>
          </a:p>
          <a:p>
            <a:pPr>
              <a:defRPr sz="960">
                <a:solidFill>
                  <a:srgbClr val="000000"/>
                </a:solidFill>
              </a:defRPr>
            </a:pPr>
            <a:r>
              <a:t>Thar Desert 48°C &amp; Ladakh 5,800m altitude non-linear drift.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1133856"/>
            <a:ext cx="2560320" cy="804672"/>
          </a:xfrm>
          <a:prstGeom prst="roundRect">
            <a:avLst/>
          </a:prstGeom>
          <a:solidFill>
            <a:srgbClr val="ECFDF5"/>
          </a:solidFill>
          <a:ln w="1524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>
              <a:defRPr sz="1100" b="1">
                <a:solidFill>
                  <a:srgbClr val="065F46"/>
                </a:solidFill>
              </a:defRPr>
            </a:pPr>
            <a:r>
              <a:t>India Theatre Wargaming:</a:t>
            </a:r>
          </a:p>
          <a:p>
            <a:pPr>
              <a:defRPr sz="960">
                <a:solidFill>
                  <a:srgbClr val="000000"/>
                </a:solidFill>
              </a:defRPr>
            </a:pPr>
            <a:r>
              <a:t>Pre-stresses models against desert and Himalayan profiles.</a:t>
            </a:r>
          </a:p>
        </p:txBody>
      </p:sp>
      <p:sp>
        <p:nvSpPr>
          <p:cNvPr id="20" name="Oval 19"/>
          <p:cNvSpPr/>
          <p:nvPr/>
        </p:nvSpPr>
        <p:spPr>
          <a:xfrm>
            <a:off x="8906256" y="1316736"/>
            <a:ext cx="438912" cy="438912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15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0" y="1522476"/>
            <a:ext cx="128016" cy="2743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724912" y="2546603"/>
            <a:ext cx="128016" cy="2743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834640" y="2340863"/>
            <a:ext cx="438912" cy="438912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15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364992" y="2157984"/>
            <a:ext cx="2560320" cy="804672"/>
          </a:xfrm>
          <a:prstGeom prst="roundRect">
            <a:avLst/>
          </a:prstGeom>
          <a:solidFill>
            <a:srgbClr val="FFF1F2"/>
          </a:solidFill>
          <a:ln w="15240">
            <a:solidFill>
              <a:srgbClr val="FE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>
              <a:defRPr sz="1100" b="1">
                <a:solidFill>
                  <a:srgbClr val="9F1239"/>
                </a:solidFill>
              </a:defRPr>
            </a:pPr>
            <a:r>
              <a:t>Sensor Noise &amp; Cyber Spoofing:</a:t>
            </a:r>
          </a:p>
          <a:p>
            <a:pPr>
              <a:defRPr sz="960">
                <a:solidFill>
                  <a:srgbClr val="000000"/>
                </a:solidFill>
              </a:defRPr>
            </a:pPr>
            <a:r>
              <a:t>In-flight electrical interference triggers false abort panic.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63640" y="2157984"/>
            <a:ext cx="2560320" cy="804672"/>
          </a:xfrm>
          <a:prstGeom prst="roundRect">
            <a:avLst/>
          </a:prstGeom>
          <a:solidFill>
            <a:srgbClr val="ECFDF5"/>
          </a:solidFill>
          <a:ln w="1524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>
              <a:defRPr sz="1100" b="1">
                <a:solidFill>
                  <a:srgbClr val="065F46"/>
                </a:solidFill>
              </a:defRPr>
            </a:pPr>
            <a:r>
              <a:t>8σ Adversarial Guard:</a:t>
            </a:r>
          </a:p>
          <a:p>
            <a:pPr>
              <a:defRPr sz="960">
                <a:solidFill>
                  <a:srgbClr val="000000"/>
                </a:solidFill>
              </a:defRPr>
            </a:pPr>
            <a:r>
              <a:t>Real-time Trust Index &amp; sensor check reject spoofing.</a:t>
            </a:r>
          </a:p>
        </p:txBody>
      </p:sp>
      <p:sp>
        <p:nvSpPr>
          <p:cNvPr id="26" name="Oval 25"/>
          <p:cNvSpPr/>
          <p:nvPr/>
        </p:nvSpPr>
        <p:spPr>
          <a:xfrm>
            <a:off x="8906256" y="2340863"/>
            <a:ext cx="438912" cy="438912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15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326880" y="2546603"/>
            <a:ext cx="128016" cy="2743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724912" y="3570732"/>
            <a:ext cx="128016" cy="2743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834640" y="3364991"/>
            <a:ext cx="438912" cy="438912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15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364992" y="3182112"/>
            <a:ext cx="2560320" cy="804672"/>
          </a:xfrm>
          <a:prstGeom prst="roundRect">
            <a:avLst/>
          </a:prstGeom>
          <a:solidFill>
            <a:srgbClr val="FFF1F2"/>
          </a:solidFill>
          <a:ln w="15240">
            <a:solidFill>
              <a:srgbClr val="FE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>
              <a:defRPr sz="1100" b="1">
                <a:solidFill>
                  <a:srgbClr val="9F1239"/>
                </a:solidFill>
              </a:defRPr>
            </a:pPr>
            <a:r>
              <a:t>Inter-Engine Wear Divergence:</a:t>
            </a:r>
          </a:p>
          <a:p>
            <a:pPr>
              <a:defRPr sz="960">
                <a:solidFill>
                  <a:srgbClr val="000000"/>
                </a:solidFill>
              </a:defRPr>
            </a:pPr>
            <a:r>
              <a:t>Factory thresholds fail on individual degradation profiles.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63640" y="3182112"/>
            <a:ext cx="2560320" cy="804672"/>
          </a:xfrm>
          <a:prstGeom prst="roundRect">
            <a:avLst/>
          </a:prstGeom>
          <a:solidFill>
            <a:srgbClr val="ECFDF5"/>
          </a:solidFill>
          <a:ln w="1524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>
              <a:defRPr sz="1100" b="1">
                <a:solidFill>
                  <a:srgbClr val="065F46"/>
                </a:solidFill>
              </a:defRPr>
            </a:pPr>
            <a:r>
              <a:t>Personalized Engine DNA:</a:t>
            </a:r>
          </a:p>
          <a:p>
            <a:pPr>
              <a:defRPr sz="960">
                <a:solidFill>
                  <a:srgbClr val="000000"/>
                </a:solidFill>
              </a:defRPr>
            </a:pPr>
            <a:r>
              <a:t>Serial-calibrated wear tracking with anti-poisoning updates.</a:t>
            </a:r>
          </a:p>
        </p:txBody>
      </p:sp>
      <p:sp>
        <p:nvSpPr>
          <p:cNvPr id="32" name="Oval 31"/>
          <p:cNvSpPr/>
          <p:nvPr/>
        </p:nvSpPr>
        <p:spPr>
          <a:xfrm>
            <a:off x="8906256" y="3364991"/>
            <a:ext cx="438912" cy="438912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15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326880" y="3570732"/>
            <a:ext cx="128016" cy="2743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724912" y="4594860"/>
            <a:ext cx="128016" cy="2743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2834640" y="4389120"/>
            <a:ext cx="438912" cy="438912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15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364992" y="4206240"/>
            <a:ext cx="2560320" cy="804672"/>
          </a:xfrm>
          <a:prstGeom prst="roundRect">
            <a:avLst/>
          </a:prstGeom>
          <a:solidFill>
            <a:srgbClr val="FFF1F2"/>
          </a:solidFill>
          <a:ln w="15240">
            <a:solidFill>
              <a:srgbClr val="FE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>
              <a:defRPr sz="1100" b="1">
                <a:solidFill>
                  <a:srgbClr val="9F1239"/>
                </a:solidFill>
              </a:defRPr>
            </a:pPr>
            <a:r>
              <a:t>Severe Edge Compute SWaP Limits:</a:t>
            </a:r>
          </a:p>
          <a:p>
            <a:pPr>
              <a:defRPr sz="960">
                <a:solidFill>
                  <a:srgbClr val="000000"/>
                </a:solidFill>
              </a:defRPr>
            </a:pPr>
            <a:r>
              <a:t>MALE UAVs restrict avionics payload power to &lt; 2W.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63640" y="4206240"/>
            <a:ext cx="2560320" cy="804672"/>
          </a:xfrm>
          <a:prstGeom prst="roundRect">
            <a:avLst/>
          </a:prstGeom>
          <a:solidFill>
            <a:srgbClr val="ECFDF5"/>
          </a:solidFill>
          <a:ln w="1524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>
              <a:defRPr sz="1100" b="1">
                <a:solidFill>
                  <a:srgbClr val="065F46"/>
                </a:solidFill>
              </a:defRPr>
            </a:pPr>
            <a:r>
              <a:t>Edge-Optimized TensorRT:</a:t>
            </a:r>
          </a:p>
          <a:p>
            <a:pPr>
              <a:defRPr sz="960">
                <a:solidFill>
                  <a:srgbClr val="000000"/>
                </a:solidFill>
              </a:defRPr>
            </a:pPr>
            <a:r>
              <a:t>Lightweight quantized INT8 models running deterministic 5 Hz cycles.</a:t>
            </a:r>
          </a:p>
        </p:txBody>
      </p:sp>
      <p:sp>
        <p:nvSpPr>
          <p:cNvPr id="38" name="Oval 37"/>
          <p:cNvSpPr/>
          <p:nvPr/>
        </p:nvSpPr>
        <p:spPr>
          <a:xfrm>
            <a:off x="8906256" y="4389120"/>
            <a:ext cx="438912" cy="438912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15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326880" y="4594860"/>
            <a:ext cx="128016" cy="2743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724912" y="5618988"/>
            <a:ext cx="128016" cy="2743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2834640" y="5413248"/>
            <a:ext cx="438912" cy="438912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150" b="1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364992" y="5230368"/>
            <a:ext cx="2560320" cy="804672"/>
          </a:xfrm>
          <a:prstGeom prst="roundRect">
            <a:avLst/>
          </a:prstGeom>
          <a:solidFill>
            <a:srgbClr val="FFF1F2"/>
          </a:solidFill>
          <a:ln w="15240">
            <a:solidFill>
              <a:srgbClr val="FE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>
              <a:defRPr sz="1100" b="1">
                <a:solidFill>
                  <a:srgbClr val="9F1239"/>
                </a:solidFill>
              </a:defRPr>
            </a:pPr>
            <a:r>
              <a:t>Military Airworthiness Certification:</a:t>
            </a:r>
          </a:p>
          <a:p>
            <a:pPr>
              <a:defRPr sz="960">
                <a:solidFill>
                  <a:srgbClr val="000000"/>
                </a:solidFill>
              </a:defRPr>
            </a:pPr>
            <a:r>
              <a:t>Strict DO-178C / DO-254 software determinism.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263640" y="5230368"/>
            <a:ext cx="2560320" cy="804672"/>
          </a:xfrm>
          <a:prstGeom prst="roundRect">
            <a:avLst/>
          </a:prstGeom>
          <a:solidFill>
            <a:srgbClr val="ECFDF5"/>
          </a:solidFill>
          <a:ln w="1524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>
              <a:defRPr sz="1100" b="1">
                <a:solidFill>
                  <a:srgbClr val="065F46"/>
                </a:solidFill>
              </a:defRPr>
            </a:pPr>
            <a:r>
              <a:t>Certified Fail-Passive Logic:</a:t>
            </a:r>
          </a:p>
          <a:p>
            <a:pPr>
              <a:defRPr sz="960">
                <a:solidFill>
                  <a:srgbClr val="000000"/>
                </a:solidFill>
              </a:defRPr>
            </a:pPr>
            <a:r>
              <a:t>Non-intrusive CAN sniffer with automatic OEM FADEC fallback.</a:t>
            </a:r>
          </a:p>
        </p:txBody>
      </p:sp>
      <p:sp>
        <p:nvSpPr>
          <p:cNvPr id="44" name="Oval 43"/>
          <p:cNvSpPr/>
          <p:nvPr/>
        </p:nvSpPr>
        <p:spPr>
          <a:xfrm>
            <a:off x="8906256" y="5413248"/>
            <a:ext cx="438912" cy="438912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150" b="1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326880" y="5618988"/>
            <a:ext cx="128016" cy="2743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05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743200" y="6473952"/>
            <a:ext cx="6705295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SMART INDIA HACKATHON 2026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972800" y="6473952"/>
            <a:ext cx="9144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182880"/>
            <a:ext cx="8961120" cy="548640"/>
          </a:xfrm>
          <a:prstGeom prst="roundRect">
            <a:avLst/>
          </a:prstGeom>
          <a:solidFill>
            <a:srgbClr val="005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0" bIns="0"/>
          <a:lstStyle/>
          <a:p>
            <a:pPr algn="l">
              <a:defRPr sz="1900" b="1">
                <a:solidFill>
                  <a:srgbClr val="FFFFFF"/>
                </a:solidFill>
              </a:defRPr>
            </a:pPr>
            <a:r>
              <a:t>Impact and Benefits</a:t>
            </a:r>
          </a:p>
        </p:txBody>
      </p:sp>
      <p:pic>
        <p:nvPicPr>
          <p:cNvPr id="3" name="Picture 2" descr="sih_heade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09728"/>
            <a:ext cx="1737360" cy="745189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48640" y="804672"/>
            <a:ext cx="11094415" cy="555955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89320" y="960120"/>
            <a:ext cx="18288" cy="468172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5742432"/>
            <a:ext cx="10820095" cy="530352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/>
          <a:lstStyle/>
          <a:p>
            <a:pPr algn="ctr">
              <a:defRPr sz="1150" b="1">
                <a:solidFill>
                  <a:srgbClr val="0F172A"/>
                </a:solidFill>
              </a:defRPr>
            </a:pPr>
            <a:r>
              <a:t>“India's first real-time edge AI digital twin for defense UAVs — preventing crashes, maximizing sortie readiness, and powering Atmanirbhar Bharat.”</a:t>
            </a:r>
          </a:p>
        </p:txBody>
      </p:sp>
      <p:pic>
        <p:nvPicPr>
          <p:cNvPr id="7" name="Picture 6" descr="donut_wheel_r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8840" y="2194560"/>
            <a:ext cx="2286000" cy="2286000"/>
          </a:xfrm>
          <a:prstGeom prst="rect">
            <a:avLst/>
          </a:prstGeom>
        </p:spPr>
      </p:pic>
      <p:sp>
        <p:nvSpPr>
          <p:cNvPr id="8" name="Oval 7"/>
          <p:cNvSpPr/>
          <p:nvPr/>
        </p:nvSpPr>
        <p:spPr>
          <a:xfrm>
            <a:off x="2578608" y="2624328"/>
            <a:ext cx="1426464" cy="1426464"/>
          </a:xfrm>
          <a:prstGeom prst="ellipse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con_center_shie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45536" y="2807208"/>
            <a:ext cx="292608" cy="29260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651760" y="3136391"/>
            <a:ext cx="12801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050" b="1">
                <a:solidFill>
                  <a:srgbClr val="0F172A"/>
                </a:solidFill>
              </a:defRPr>
            </a:pPr>
            <a:r>
              <a:t>Potential</a:t>
            </a:r>
          </a:p>
          <a:p>
            <a:pPr algn="ctr">
              <a:defRPr sz="1050" b="1">
                <a:solidFill>
                  <a:srgbClr val="0F172A"/>
                </a:solidFill>
              </a:defRPr>
            </a:pPr>
            <a:r>
              <a:t>Impact on</a:t>
            </a:r>
          </a:p>
          <a:p>
            <a:pPr algn="ctr">
              <a:defRPr sz="1150" b="1">
                <a:solidFill>
                  <a:srgbClr val="0284C7"/>
                </a:solidFill>
              </a:defRPr>
            </a:pPr>
            <a:r>
              <a:t>Defense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17320" y="960120"/>
            <a:ext cx="3749039" cy="987552"/>
          </a:xfrm>
          <a:prstGeom prst="roundRect">
            <a:avLst/>
          </a:prstGeom>
          <a:solidFill>
            <a:srgbClr val="F0F9FF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82696" y="1947672"/>
            <a:ext cx="27432" cy="2560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280160" y="841248"/>
            <a:ext cx="329184" cy="329184"/>
          </a:xfrm>
          <a:prstGeom prst="ellipse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14" name="Oval 13"/>
          <p:cNvSpPr/>
          <p:nvPr/>
        </p:nvSpPr>
        <p:spPr>
          <a:xfrm>
            <a:off x="1691640" y="1078992"/>
            <a:ext cx="365760" cy="365760"/>
          </a:xfrm>
          <a:prstGeom prst="ellipse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con_dron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37360" y="1124712"/>
            <a:ext cx="274320" cy="27432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148840" y="1005840"/>
            <a:ext cx="2926080" cy="896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UAV Remote Pilots &amp; Mission Commanders</a:t>
            </a:r>
          </a:p>
          <a:p>
            <a:pPr>
              <a:defRPr sz="919">
                <a:solidFill>
                  <a:srgbClr val="000000"/>
                </a:solidFill>
              </a:defRPr>
            </a:pPr>
            <a:r>
              <a:t>5–15 min pre-FADEC warnings; eliminates panic aborts with clear optimal Pareto flight recovery trims.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2103120"/>
            <a:ext cx="1627632" cy="1417320"/>
          </a:xfrm>
          <a:prstGeom prst="roundRect">
            <a:avLst/>
          </a:prstGeom>
          <a:solidFill>
            <a:srgbClr val="FFF7ED"/>
          </a:solidFill>
          <a:ln w="1524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313432" y="2807208"/>
            <a:ext cx="219456" cy="2743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48640" y="1965960"/>
            <a:ext cx="329184" cy="329184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20" name="Oval 19"/>
          <p:cNvSpPr/>
          <p:nvPr/>
        </p:nvSpPr>
        <p:spPr>
          <a:xfrm>
            <a:off x="841248" y="2194560"/>
            <a:ext cx="347472" cy="347472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con_gov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6968" y="2240280"/>
            <a:ext cx="256032" cy="256032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777240" y="2578608"/>
            <a:ext cx="1444752" cy="896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 b="1">
                <a:solidFill>
                  <a:srgbClr val="EA580C"/>
                </a:solidFill>
              </a:defRPr>
            </a:pPr>
            <a:r>
              <a:t>Nation &amp; MoD:</a:t>
            </a:r>
          </a:p>
          <a:p>
            <a:pPr>
              <a:defRPr sz="880">
                <a:solidFill>
                  <a:srgbClr val="000000"/>
                </a:solidFill>
              </a:defRPr>
            </a:pPr>
            <a:r>
              <a:t>100% sovereign defense IP; eliminates Austrian OEM lock-in; ₹35–50L saved per airframe annually.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70248" y="2103120"/>
            <a:ext cx="1627632" cy="1417320"/>
          </a:xfrm>
          <a:prstGeom prst="roundRect">
            <a:avLst/>
          </a:prstGeom>
          <a:solidFill>
            <a:srgbClr val="F0FDFA"/>
          </a:solidFill>
          <a:ln w="1524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069080" y="2807208"/>
            <a:ext cx="201168" cy="2743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133087" y="1965960"/>
            <a:ext cx="329184" cy="32918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26" name="Oval 25"/>
          <p:cNvSpPr/>
          <p:nvPr/>
        </p:nvSpPr>
        <p:spPr>
          <a:xfrm>
            <a:off x="4425696" y="2194560"/>
            <a:ext cx="347472" cy="347472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icon_gear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71416" y="2240280"/>
            <a:ext cx="256032" cy="256032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4361688" y="2578608"/>
            <a:ext cx="1444752" cy="896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 b="1">
                <a:solidFill>
                  <a:srgbClr val="0D9488"/>
                </a:solidFill>
              </a:defRPr>
            </a:pPr>
            <a:r>
              <a:t>Ground Engineers:</a:t>
            </a:r>
          </a:p>
          <a:p>
            <a:pPr>
              <a:defRPr sz="880">
                <a:solidFill>
                  <a:srgbClr val="000000"/>
                </a:solidFill>
              </a:defRPr>
            </a:pPr>
            <a:r>
              <a:t>Causal DAG pinpoints root injector/bearing fault; auto maintenance debrief orders on landing.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5800" y="3977639"/>
            <a:ext cx="1627632" cy="1417320"/>
          </a:xfrm>
          <a:prstGeom prst="roundRect">
            <a:avLst/>
          </a:prstGeom>
          <a:solidFill>
            <a:srgbClr val="F0FDF4"/>
          </a:solidFill>
          <a:ln w="1524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313432" y="4251960"/>
            <a:ext cx="237744" cy="2743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48640" y="3840480"/>
            <a:ext cx="329184" cy="329184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32" name="Oval 31"/>
          <p:cNvSpPr/>
          <p:nvPr/>
        </p:nvSpPr>
        <p:spPr>
          <a:xfrm>
            <a:off x="841248" y="4069080"/>
            <a:ext cx="347472" cy="347472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con_flee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6968" y="4114800"/>
            <a:ext cx="256032" cy="256032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777240" y="4453128"/>
            <a:ext cx="1444752" cy="896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 b="1">
                <a:solidFill>
                  <a:srgbClr val="16A34A"/>
                </a:solidFill>
              </a:defRPr>
            </a:pPr>
            <a:r>
              <a:t>Tri-Services Fleet:</a:t>
            </a:r>
          </a:p>
          <a:p>
            <a:pPr>
              <a:defRPr sz="880">
                <a:solidFill>
                  <a:srgbClr val="000000"/>
                </a:solidFill>
              </a:defRPr>
            </a:pPr>
            <a:r>
              <a:t>Unified prognostics across Army, Navy &amp; IAF MALE UAVs (TAPAS, Rustom-II); 28% higher availability.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270248" y="3977639"/>
            <a:ext cx="1627632" cy="1417320"/>
          </a:xfrm>
          <a:prstGeom prst="roundRect">
            <a:avLst/>
          </a:prstGeom>
          <a:solidFill>
            <a:srgbClr val="FAF5FF"/>
          </a:solidFill>
          <a:ln w="1524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069080" y="4251960"/>
            <a:ext cx="201168" cy="2743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4133087" y="3840480"/>
            <a:ext cx="329184" cy="32918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38" name="Oval 37"/>
          <p:cNvSpPr/>
          <p:nvPr/>
        </p:nvSpPr>
        <p:spPr>
          <a:xfrm>
            <a:off x="4425696" y="4069080"/>
            <a:ext cx="347472" cy="34747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Picture 38" descr="icon_safety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71416" y="4114800"/>
            <a:ext cx="256032" cy="256032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4361688" y="4453128"/>
            <a:ext cx="1444752" cy="896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 b="1">
                <a:solidFill>
                  <a:srgbClr val="7C3AED"/>
                </a:solidFill>
              </a:defRPr>
            </a:pPr>
            <a:r>
              <a:t>Flight Safety Officers:</a:t>
            </a:r>
          </a:p>
          <a:p>
            <a:pPr>
              <a:defRPr sz="880">
                <a:solidFill>
                  <a:srgbClr val="000000"/>
                </a:solidFill>
              </a:defRPr>
            </a:pPr>
            <a:r>
              <a:t>500-run Monte Carlo sortie risk assessment; zero unpredicted in-flight engine seizures.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172200" y="960120"/>
            <a:ext cx="5321808" cy="438912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icon_barchart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27648" y="1033271"/>
            <a:ext cx="292608" cy="292608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6675120" y="987552"/>
            <a:ext cx="4709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 b="1">
                <a:solidFill>
                  <a:srgbClr val="FFFFFF"/>
                </a:solidFill>
              </a:defRPr>
            </a:pPr>
            <a:r>
              <a:t>Operational, Economic &amp; Strategic Benefits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172200" y="1508760"/>
            <a:ext cx="5321808" cy="128016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016752" y="1417319"/>
            <a:ext cx="365760" cy="365760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46" name="Oval 45"/>
          <p:cNvSpPr/>
          <p:nvPr/>
        </p:nvSpPr>
        <p:spPr>
          <a:xfrm>
            <a:off x="6291072" y="1856231"/>
            <a:ext cx="566928" cy="566928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icon_shiel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91656" y="1956815"/>
            <a:ext cx="365760" cy="365760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6967728" y="1581912"/>
            <a:ext cx="4407408" cy="11338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EA580C"/>
                </a:solidFill>
              </a:defRPr>
            </a:pPr>
            <a:r>
              <a:t>Operational &amp; Mission Safety (Airframe Preservation)</a:t>
            </a:r>
          </a:p>
          <a:p>
            <a:pPr>
              <a:spcBef>
                <a:spcPts val="400"/>
              </a:spcBef>
              <a:defRPr sz="1000" i="1">
                <a:solidFill>
                  <a:srgbClr val="000000"/>
                </a:solidFill>
              </a:defRPr>
            </a:pPr>
            <a:r>
              <a:t>“Eliminates the catastrophic 'abort-vs-crash' panic. Delivers 5–15 minute early warning before mechanical failure, cutting false aborts to &lt;1.5% and preserving multi-crore border surveillance missions.”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172200" y="2916936"/>
            <a:ext cx="5321808" cy="128016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6016752" y="2825496"/>
            <a:ext cx="365760" cy="365760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51" name="Oval 50"/>
          <p:cNvSpPr/>
          <p:nvPr/>
        </p:nvSpPr>
        <p:spPr>
          <a:xfrm>
            <a:off x="6291072" y="3264408"/>
            <a:ext cx="566928" cy="566928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2" name="Picture 51" descr="icon_coi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91656" y="3364991"/>
            <a:ext cx="365760" cy="365760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6967728" y="2990088"/>
            <a:ext cx="4407408" cy="11338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16A34A"/>
                </a:solidFill>
              </a:defRPr>
            </a:pPr>
            <a:r>
              <a:t>Economic &amp; Fleet Availability (Condition-Based TBO)</a:t>
            </a:r>
          </a:p>
          <a:p>
            <a:pPr>
              <a:spcBef>
                <a:spcPts val="400"/>
              </a:spcBef>
              <a:defRPr sz="1000" i="1">
                <a:solidFill>
                  <a:srgbClr val="000000"/>
                </a:solidFill>
              </a:defRPr>
            </a:pPr>
            <a:r>
              <a:t>“Dynamic wear-calibrated maintenance replaces static calendar strip-downs, saving ₹35–50 Lakhs per airframe/year, increasing squadron availability by 28%, and delivering &gt;350% system ROI.”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172200" y="4325112"/>
            <a:ext cx="5321808" cy="128016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6016752" y="4233672"/>
            <a:ext cx="365760" cy="365760"/>
          </a:xfrm>
          <a:prstGeom prst="ellipse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56" name="Oval 55"/>
          <p:cNvSpPr/>
          <p:nvPr/>
        </p:nvSpPr>
        <p:spPr>
          <a:xfrm>
            <a:off x="6291072" y="4672584"/>
            <a:ext cx="566928" cy="566928"/>
          </a:xfrm>
          <a:prstGeom prst="ellipse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7" name="Picture 56" descr="icon_india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391656" y="4773168"/>
            <a:ext cx="365760" cy="365760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6967728" y="4398264"/>
            <a:ext cx="4407408" cy="11338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0284C7"/>
                </a:solidFill>
              </a:defRPr>
            </a:pPr>
            <a:r>
              <a:t>Strategic Defense Sovereignty (Atmanirbhar Bharat)</a:t>
            </a:r>
          </a:p>
          <a:p>
            <a:pPr>
              <a:spcBef>
                <a:spcPts val="400"/>
              </a:spcBef>
              <a:defRPr sz="1000" i="1">
                <a:solidFill>
                  <a:srgbClr val="000000"/>
                </a:solidFill>
              </a:defRPr>
            </a:pPr>
            <a:r>
              <a:t>“100% indigenous propulsion telemetry intelligence eliminating foreign OEM diagnostic dependence. Delivers 6–9% fuel reduction via optimal trims and verified high-altitude border persistence.”</a:t>
            </a:r>
          </a:p>
        </p:txBody>
      </p:sp>
      <p:sp>
        <p:nvSpPr>
          <p:cNvPr id="59" name="Rectangle 58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05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743200" y="6473952"/>
            <a:ext cx="6705295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SMART INDIA HACKATHON 2026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972800" y="6473952"/>
            <a:ext cx="9144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182880"/>
            <a:ext cx="8961120" cy="548640"/>
          </a:xfrm>
          <a:prstGeom prst="roundRect">
            <a:avLst/>
          </a:prstGeom>
          <a:solidFill>
            <a:srgbClr val="005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0" bIns="0"/>
          <a:lstStyle/>
          <a:p>
            <a:pPr algn="l">
              <a:defRPr sz="1900" b="1">
                <a:solidFill>
                  <a:srgbClr val="FFFFFF"/>
                </a:solidFill>
              </a:defRPr>
            </a:pPr>
            <a:r>
              <a:t>Research, Empirical Validation &amp; Defense References</a:t>
            </a:r>
          </a:p>
        </p:txBody>
      </p:sp>
      <p:pic>
        <p:nvPicPr>
          <p:cNvPr id="3" name="Picture 2" descr="sih_heade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09728"/>
            <a:ext cx="1737360" cy="745189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48640" y="841248"/>
            <a:ext cx="5394960" cy="402336"/>
          </a:xfrm>
          <a:prstGeom prst="roundRect">
            <a:avLst/>
          </a:prstGeom>
          <a:solidFill>
            <a:srgbClr val="005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t>Field Research &amp; Empirical Flight Validation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841248"/>
            <a:ext cx="5394960" cy="402336"/>
          </a:xfrm>
          <a:prstGeom prst="roundRect">
            <a:avLst/>
          </a:prstGeom>
          <a:solidFill>
            <a:srgbClr val="005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t>Authoritative Defense &amp; Regulatory Citations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35024"/>
            <a:ext cx="5394960" cy="117043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977639" y="1408176"/>
            <a:ext cx="1874519" cy="237744"/>
          </a:xfrm>
          <a:prstGeom prst="roundRect">
            <a:avLst/>
          </a:prstGeom>
          <a:solidFill>
            <a:srgbClr val="EEF6FF"/>
          </a:solidFill>
          <a:ln w="12700">
            <a:solidFill>
              <a:srgbClr val="BAD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05B94"/>
                </a:solidFill>
              </a:defRPr>
            </a:pPr>
            <a:r>
              <a:t>18,000 FT CEILING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08176"/>
            <a:ext cx="32004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b="1" sz="1350">
                <a:solidFill>
                  <a:srgbClr val="005B94"/>
                </a:solidFill>
              </a:rPr>
              <a:t>DRDO TAPAS-BH-201 Mission Profiles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00784"/>
            <a:ext cx="502920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>
                <a:solidFill>
                  <a:srgbClr val="000000"/>
                </a:solidFill>
              </a:rPr>
              <a:t>Calibrated against official ADE flight envelopes for 18,000 ft operational altitude, 24-hr high-altitude loiter, and extreme thermal swings from Himalayan rarefaction to Thar desert heat.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615184"/>
            <a:ext cx="5394960" cy="117043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977639" y="2688336"/>
            <a:ext cx="1874519" cy="237744"/>
          </a:xfrm>
          <a:prstGeom prst="roundRect">
            <a:avLst/>
          </a:prstGeom>
          <a:solidFill>
            <a:srgbClr val="EEF6FF"/>
          </a:solidFill>
          <a:ln w="12700">
            <a:solidFill>
              <a:srgbClr val="BAD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05B94"/>
                </a:solidFill>
              </a:defRPr>
            </a:pPr>
            <a:r>
              <a:t>100 Hz OEM ENVELOPE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688336"/>
            <a:ext cx="32004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b="1" sz="1350">
                <a:solidFill>
                  <a:srgbClr val="005B94"/>
                </a:solidFill>
              </a:rPr>
              <a:t>Rotax 914/915 iS Engine Telemetry Baseline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980944"/>
            <a:ext cx="502920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>
                <a:solidFill>
                  <a:srgbClr val="000000"/>
                </a:solidFill>
              </a:rPr>
              <a:t>Extracted empirical baselines (CHT 115–135°C, EGT 800–880°C, MAP 28–39 inHg, fuel burn 25–33 L/h) directly from OEM flight test logs to ground the thermodynamic model.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895344"/>
            <a:ext cx="5394960" cy="117043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977639" y="3968496"/>
            <a:ext cx="1874519" cy="237744"/>
          </a:xfrm>
          <a:prstGeom prst="roundRect">
            <a:avLst/>
          </a:prstGeom>
          <a:solidFill>
            <a:srgbClr val="EEF6FF"/>
          </a:solidFill>
          <a:ln w="12700">
            <a:solidFill>
              <a:srgbClr val="BAD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05B94"/>
                </a:solidFill>
              </a:defRPr>
            </a:pPr>
            <a:r>
              <a:t>FAIL-PASSIVE TESTED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968496"/>
            <a:ext cx="32004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b="1" sz="1350">
                <a:solidFill>
                  <a:srgbClr val="005B94"/>
                </a:solidFill>
              </a:rPr>
              <a:t>Software HIL &amp; Telemetry Emulation Testbed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261104"/>
            <a:ext cx="502920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>
                <a:solidFill>
                  <a:srgbClr val="000000"/>
                </a:solidFill>
              </a:rPr>
              <a:t>Hardware-in-the-Loop bench emulating CAN bus telemetry streams (+15°C CHT drift, 12% injector lean, turbo lag) validating deterministic software fault isolation without flight intrusion.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175503"/>
            <a:ext cx="5394960" cy="117043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977639" y="5248655"/>
            <a:ext cx="1874519" cy="237744"/>
          </a:xfrm>
          <a:prstGeom prst="roundRect">
            <a:avLst/>
          </a:prstGeom>
          <a:solidFill>
            <a:srgbClr val="EEF6FF"/>
          </a:solidFill>
          <a:ln w="12700">
            <a:solidFill>
              <a:srgbClr val="BAD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05B94"/>
                </a:solidFill>
              </a:defRPr>
            </a:pPr>
            <a:r>
              <a:t>29.3% VARIANCE CUT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248655"/>
            <a:ext cx="32004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b="1" sz="1350">
                <a:solidFill>
                  <a:srgbClr val="005B94"/>
                </a:solidFill>
              </a:rPr>
              <a:t>500-Run Monte Carlo Verification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541264"/>
            <a:ext cx="502920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>
                <a:solidFill>
                  <a:srgbClr val="000000"/>
                </a:solidFill>
              </a:rPr>
              <a:t>Simulated 500 stochastic engine degradation runs, demonstrating 29.3% variance reduction in Remaining Useful Life (RUL) estimation and &lt;1.5% false abort rate across full sorties.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1335024"/>
            <a:ext cx="5394960" cy="159105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875520" y="1408176"/>
            <a:ext cx="1645920" cy="237744"/>
          </a:xfrm>
          <a:prstGeom prst="roundRect">
            <a:avLst/>
          </a:prstGeom>
          <a:solidFill>
            <a:srgbClr val="EEF6FF"/>
          </a:solidFill>
          <a:ln w="12700">
            <a:solidFill>
              <a:srgbClr val="BAD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05B94"/>
                </a:solidFill>
              </a:defRPr>
            </a:pPr>
            <a:r>
              <a:t>DEFENSE SPEC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19088" y="1408176"/>
            <a:ext cx="33832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b="1" sz="1350">
                <a:solidFill>
                  <a:srgbClr val="005B94"/>
                </a:solidFill>
              </a:rPr>
              <a:t>1. Defense &amp; Engine OEM Technical Standards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1719072"/>
            <a:ext cx="507492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b="1" sz="1200">
                <a:solidFill>
                  <a:srgbClr val="0F172A"/>
                </a:solidFill>
              </a:rPr>
              <a:t>• DRDO Aeronautical Development Establishment (ADE):</a:t>
            </a:r>
            <a:r>
              <a:rPr b="0" sz="1150">
                <a:solidFill>
                  <a:srgbClr val="000000"/>
                </a:solidFill>
              </a:rPr>
              <a:t> TAPAS-BH-201 MALE UAV Technical Specs, Avionics Architecture &amp; Flight Envelope Guidelines (MoD, 2023). </a:t>
            </a:r>
            <a:r>
              <a:rPr b="1" sz="1150" u="sng">
                <a:solidFill>
                  <a:srgbClr val="005B94"/>
                </a:solidFill>
                <a:hlinkClick r:id="rId3"/>
              </a:rPr>
              <a:t>[DRDO ADE Portal]</a:t>
            </a:r>
          </a:p>
          <a:p>
            <a:pPr algn="l">
              <a:spcBef>
                <a:spcPts val="450"/>
              </a:spcBef>
            </a:pPr>
            <a:r>
              <a:rPr b="1" sz="1200">
                <a:solidFill>
                  <a:srgbClr val="0F172A"/>
                </a:solidFill>
              </a:rPr>
              <a:t>• BRP-Rotax GmbH &amp; Co KG Aircraft Engines:</a:t>
            </a:r>
            <a:r>
              <a:rPr b="0" sz="1150">
                <a:solidFill>
                  <a:srgbClr val="000000"/>
                </a:solidFill>
              </a:rPr>
              <a:t> Rotax 914 F &amp; 915 iS Maintenance &amp; Operators Manuals (Ref: EDO-021 / EDO-022, Gunskirchen, Austria). </a:t>
            </a:r>
            <a:r>
              <a:rPr b="1" sz="1150" u="sng">
                <a:solidFill>
                  <a:srgbClr val="005B94"/>
                </a:solidFill>
                <a:hlinkClick r:id="rId4"/>
              </a:rPr>
              <a:t>[Rotax Documentation]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3044952"/>
            <a:ext cx="5394960" cy="159105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875520" y="3118104"/>
            <a:ext cx="1645920" cy="237744"/>
          </a:xfrm>
          <a:prstGeom prst="roundRect">
            <a:avLst/>
          </a:prstGeom>
          <a:solidFill>
            <a:srgbClr val="EEF6FF"/>
          </a:solidFill>
          <a:ln w="12700">
            <a:solidFill>
              <a:srgbClr val="BAD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05B94"/>
                </a:solidFill>
              </a:defRPr>
            </a:pPr>
            <a:r>
              <a:t>PEER REVIEWED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19088" y="3118104"/>
            <a:ext cx="33832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b="1" sz="1350">
                <a:solidFill>
                  <a:srgbClr val="005B94"/>
                </a:solidFill>
              </a:rPr>
              <a:t>2. Peer-Reviewed AI &amp; Prognostics Literature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19088" y="3429000"/>
            <a:ext cx="507492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b="1" sz="1200">
                <a:solidFill>
                  <a:srgbClr val="0F172A"/>
                </a:solidFill>
              </a:rPr>
              <a:t>• IEEE Trans. Aerospace &amp; Electronic Systems:</a:t>
            </a:r>
            <a:r>
              <a:rPr b="0" sz="1150">
                <a:solidFill>
                  <a:srgbClr val="000000"/>
                </a:solidFill>
              </a:rPr>
              <a:t> Physics-Informed Neural Networks &amp; Extended Kalman Filtering for Aero Engine RUL Prognostics (Vol. 59, Issue 4, 2023). </a:t>
            </a:r>
            <a:r>
              <a:rPr b="1" sz="1150" u="sng">
                <a:solidFill>
                  <a:srgbClr val="005B94"/>
                </a:solidFill>
                <a:hlinkClick r:id="rId5"/>
              </a:rPr>
              <a:t>[IEEE Xplore Library]</a:t>
            </a:r>
          </a:p>
          <a:p>
            <a:pPr algn="l">
              <a:spcBef>
                <a:spcPts val="450"/>
              </a:spcBef>
            </a:pPr>
            <a:r>
              <a:rPr b="1" sz="1200">
                <a:solidFill>
                  <a:srgbClr val="0F172A"/>
                </a:solidFill>
              </a:rPr>
              <a:t>• NASA Ames Prognostics Center of Excellence:</a:t>
            </a:r>
            <a:r>
              <a:rPr b="0" sz="1150">
                <a:solidFill>
                  <a:srgbClr val="000000"/>
                </a:solidFill>
              </a:rPr>
              <a:t> C-MAPSS Aero Engine Degradation Benchmarks &amp; Causal DAG Fault Isolation Frameworks. </a:t>
            </a:r>
            <a:r>
              <a:rPr b="1" sz="1150" u="sng">
                <a:solidFill>
                  <a:srgbClr val="005B94"/>
                </a:solidFill>
                <a:hlinkClick r:id="rId6"/>
              </a:rPr>
              <a:t>[NASA PCoE Repository]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17920" y="4754880"/>
            <a:ext cx="5394960" cy="159105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875520" y="4828032"/>
            <a:ext cx="1645920" cy="237744"/>
          </a:xfrm>
          <a:prstGeom prst="roundRect">
            <a:avLst/>
          </a:prstGeom>
          <a:solidFill>
            <a:srgbClr val="EEF6FF"/>
          </a:solidFill>
          <a:ln w="12700">
            <a:solidFill>
              <a:srgbClr val="BAD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05B94"/>
                </a:solidFill>
              </a:defRPr>
            </a:pPr>
            <a:r>
              <a:t>CERTIFICATION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19088" y="4828032"/>
            <a:ext cx="33832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b="1" sz="1350">
                <a:solidFill>
                  <a:srgbClr val="005B94"/>
                </a:solidFill>
              </a:rPr>
              <a:t>3. Aviation Airworthiness &amp; Sovereign Mandate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19088" y="5138928"/>
            <a:ext cx="507492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b="1" sz="1200">
                <a:solidFill>
                  <a:srgbClr val="0F172A"/>
                </a:solidFill>
              </a:rPr>
              <a:t>• RTCA DO-178C (Level C) &amp; DO-254 Standards:</a:t>
            </a:r>
            <a:r>
              <a:rPr b="0" sz="1150">
                <a:solidFill>
                  <a:srgbClr val="000000"/>
                </a:solidFill>
              </a:rPr>
              <a:t> Airborne Software Safety Considerations &amp; Design Assurance Guidance for Airborne Electronic Hardware. </a:t>
            </a:r>
            <a:r>
              <a:rPr b="1" sz="1150" u="sng">
                <a:solidFill>
                  <a:srgbClr val="005B94"/>
                </a:solidFill>
                <a:hlinkClick r:id="rId7"/>
              </a:rPr>
              <a:t>[RTCA Standards]</a:t>
            </a:r>
          </a:p>
          <a:p>
            <a:pPr algn="l">
              <a:spcBef>
                <a:spcPts val="450"/>
              </a:spcBef>
            </a:pPr>
            <a:r>
              <a:rPr b="1" sz="1200">
                <a:solidFill>
                  <a:srgbClr val="0F172A"/>
                </a:solidFill>
              </a:rPr>
              <a:t>• Ministry of Defence Positive Indigenisation Lists:</a:t>
            </a:r>
            <a:r>
              <a:rPr b="0" sz="1150">
                <a:solidFill>
                  <a:srgbClr val="000000"/>
                </a:solidFill>
              </a:rPr>
              <a:t> Department of Military Affairs mandate for 100% indigenous UAV avionics, diagnostics &amp; software (2024). </a:t>
            </a:r>
            <a:r>
              <a:rPr b="1" sz="1150" u="sng">
                <a:solidFill>
                  <a:srgbClr val="005B94"/>
                </a:solidFill>
                <a:hlinkClick r:id="rId8"/>
              </a:rPr>
              <a:t>[DDP Make-in-India]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05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43200" y="6473952"/>
            <a:ext cx="6705295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SMART INDIA HACKATHON 2026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6473952"/>
            <a:ext cx="9144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