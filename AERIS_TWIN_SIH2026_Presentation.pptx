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256032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AERIS-TWIN</a:t>
            </a:r>
          </a:p>
          <a:p>
            <a:pPr>
              <a:defRPr sz="1100" b="1">
                <a:solidFill>
                  <a:srgbClr val="000000"/>
                </a:solidFill>
              </a:defRPr>
            </a:pPr>
            <a:r>
              <a:t>Defense UAV Prognostics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164592"/>
            <a:ext cx="621792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SMART INDIA HACKATHON 2026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28016"/>
            <a:ext cx="2011680" cy="9017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41248"/>
            <a:ext cx="1109441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916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t>AI-Enabled Real-Time Digital Twin System for Health Monitoring, Fault Prediction and Mission Reliability Enhancement of Aero Piston Engines used in MALE UAVs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7132320" cy="4251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320040"/>
          <a:lstStyle/>
          <a:p>
            <a:pPr algn="ctr">
              <a:spcAft>
                <a:spcPts val="1000"/>
              </a:spcAft>
            </a:pPr>
            <a:r>
              <a:rPr b="1" sz="1350">
                <a:solidFill>
                  <a:srgbClr val="000000"/>
                </a:solidFill>
              </a:rPr>
              <a:t>•  Problem Statement ID :  </a:t>
            </a:r>
            <a:r>
              <a:rPr sz="1350">
                <a:solidFill>
                  <a:srgbClr val="000000"/>
                </a:solidFill>
              </a:rPr>
              <a:t>25266  (Aerospace &amp; Defense Aviation Category)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00000"/>
                </a:solidFill>
              </a:rPr>
              <a:t>•  Problem Statement Title :  </a:t>
            </a:r>
            <a:r>
              <a:rPr sz="1350">
                <a:solidFill>
                  <a:srgbClr val="000000"/>
                </a:solidFill>
              </a:rPr>
              <a:t>AI-Enabled Real-Time Digital Twin for MALE UAV Piston Powerplants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00000"/>
                </a:solidFill>
              </a:rPr>
              <a:t>•  Strategic Defense Theme :  </a:t>
            </a:r>
            <a:r>
              <a:rPr sz="1350">
                <a:solidFill>
                  <a:srgbClr val="000000"/>
                </a:solidFill>
              </a:rPr>
              <a:t>Defense, Aerospace &amp; Security / Smart Operational Flight Readiness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00000"/>
                </a:solidFill>
              </a:rPr>
              <a:t>•  Competition Category :  </a:t>
            </a:r>
            <a:r>
              <a:rPr sz="1350">
                <a:solidFill>
                  <a:srgbClr val="000000"/>
                </a:solidFill>
              </a:rPr>
              <a:t>Hardware &amp; Software Integration (Edge Avionics / DO-178C Aligned)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00000"/>
                </a:solidFill>
              </a:rPr>
              <a:t>•  Target Airframes :  </a:t>
            </a:r>
            <a:r>
              <a:rPr sz="1350">
                <a:solidFill>
                  <a:srgbClr val="000000"/>
                </a:solidFill>
              </a:rPr>
              <a:t>MALE UAVs (DRDO TAPAS-BH-201, Rustom-II, Archer-NG)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00000"/>
                </a:solidFill>
              </a:rPr>
              <a:t>•  Aero-Propulsion Unit :  </a:t>
            </a:r>
            <a:r>
              <a:rPr sz="1350">
                <a:solidFill>
                  <a:srgbClr val="000000"/>
                </a:solidFill>
              </a:rPr>
              <a:t>Rotax 914 / 915 iS Turbocharged 4-Cylinder Aero Piston Engine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00000"/>
                </a:solidFill>
              </a:rPr>
              <a:t>•  Team Identification :  </a:t>
            </a:r>
            <a:r>
              <a:rPr sz="1350">
                <a:solidFill>
                  <a:srgbClr val="000000"/>
                </a:solidFill>
              </a:rPr>
              <a:t>Mindsmiths  /  Aero-Intelligence Core</a:t>
            </a:r>
          </a:p>
        </p:txBody>
      </p:sp>
      <p:pic>
        <p:nvPicPr>
          <p:cNvPr id="8" name="Picture 7" descr="slide1_hero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331720"/>
            <a:ext cx="3566160" cy="33230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256032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AERIS-TWIN</a:t>
            </a:r>
          </a:p>
          <a:p>
            <a:pPr>
              <a:defRPr sz="1100" b="1">
                <a:solidFill>
                  <a:srgbClr val="000000"/>
                </a:solidFill>
              </a:defRPr>
            </a:pPr>
            <a:r>
              <a:t>Defense UAV Prognostics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164592"/>
            <a:ext cx="621792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PROPOSED SOLUTION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28016"/>
            <a:ext cx="2011680" cy="9017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41248"/>
            <a:ext cx="1109441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329184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Operational Crises at Hand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2918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b="1" sz="1300">
                <a:solidFill>
                  <a:srgbClr val="000000"/>
                </a:solidFill>
              </a:defRPr>
            </a:pPr>
            <a:r>
              <a:t>Late Alarm Latency (Fixed Limits)</a:t>
            </a:r>
          </a:p>
          <a:p>
            <a:pPr>
              <a:defRPr sz="1150">
                <a:solidFill>
                  <a:srgbClr val="000000"/>
                </a:solidFill>
              </a:defRPr>
            </a:pPr>
            <a:r>
              <a:t>Legacy FADEC ECUs rely on rigid static limits. When CHT &gt; 250°C alarm sounds, irreversible piston micro-welding and cylinder scoring has already occurred.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32918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b="1" sz="1300">
                <a:solidFill>
                  <a:srgbClr val="000000"/>
                </a:solidFill>
              </a:defRPr>
            </a:pPr>
            <a:r>
              <a:t>Zero Engine Personalization</a:t>
            </a:r>
          </a:p>
          <a:p>
            <a:pPr>
              <a:defRPr sz="1150">
                <a:solidFill>
                  <a:srgbClr val="000000"/>
                </a:solidFill>
              </a:defRPr>
            </a:pPr>
            <a:r>
              <a:t>A fresh 50-hr engine and an 850-hr operational workhorse are evaluated by identical factory limits, ignoring individual thermal hysteresis and mechanical wear.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32918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b="1" sz="1300">
                <a:solidFill>
                  <a:srgbClr val="000000"/>
                </a:solidFill>
              </a:defRPr>
            </a:pPr>
            <a:r>
              <a:t>The 'Abort vs Crash' Dilemma</a:t>
            </a:r>
          </a:p>
          <a:p>
            <a:pPr>
              <a:defRPr sz="1150">
                <a:solidFill>
                  <a:srgbClr val="000000"/>
                </a:solidFill>
              </a:defRPr>
            </a:pPr>
            <a:r>
              <a:t>In-flight sensor anomalies force pilots into binary panic: either prematurely ditching a multi-crore border mission or risking total airframe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960120"/>
            <a:ext cx="466344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Our Solution: AERIS-TWIN 3.0 Platform</a:t>
            </a:r>
          </a:p>
        </p:txBody>
      </p:sp>
      <p:pic>
        <p:nvPicPr>
          <p:cNvPr id="11" name="Picture 10" descr="slide2_hud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325880"/>
            <a:ext cx="4663440" cy="2743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69080" y="4160520"/>
            <a:ext cx="1490472" cy="68580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/>
          <a:lstStyle/>
          <a:p>
            <a:pPr algn="ctr">
              <a:defRPr b="1" sz="1600">
                <a:solidFill>
                  <a:srgbClr val="000000"/>
                </a:solidFill>
              </a:defRPr>
            </a:pPr>
            <a:r>
              <a:t>5–15 MIN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Pre-FADEC Lead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50992" y="4160520"/>
            <a:ext cx="1490472" cy="68580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/>
          <a:lstStyle/>
          <a:p>
            <a:pPr algn="ctr">
              <a:defRPr b="1" sz="1600">
                <a:solidFill>
                  <a:srgbClr val="000000"/>
                </a:solidFill>
              </a:defRPr>
            </a:pPr>
            <a:r>
              <a:t>29.3%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NASA Variance Cut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2904" y="4160520"/>
            <a:ext cx="1490472" cy="68580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/>
          <a:lstStyle/>
          <a:p>
            <a:pPr algn="ctr">
              <a:defRPr b="1" sz="1600">
                <a:solidFill>
                  <a:srgbClr val="000000"/>
                </a:solidFill>
              </a:defRPr>
            </a:pPr>
            <a:r>
              <a:t>&lt; 1.5%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False Abort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4937760"/>
            <a:ext cx="466344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400"/>
              </a:spcAft>
              <a:defRPr b="1" sz="1300">
                <a:solidFill>
                  <a:srgbClr val="000000"/>
                </a:solidFill>
              </a:defRPr>
            </a:pPr>
            <a:r>
              <a:t>Why We Stand Out (Core Innovation)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00000"/>
                </a:solidFill>
              </a:rPr>
              <a:t>•  Hybrid Physics-AI Residual Geometry: </a:t>
            </a:r>
            <a:r>
              <a:rPr sz="1050">
                <a:solidFill>
                  <a:srgbClr val="000000"/>
                </a:solidFill>
              </a:rPr>
              <a:t>Combines first-principles energy conservation with ML to disambiguate physical wear from sensor drift with zero false alarms.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00000"/>
                </a:solidFill>
              </a:rPr>
              <a:t>•  Prescriptive In-Flight Recovery: </a:t>
            </a:r>
            <a:r>
              <a:rPr sz="1050">
                <a:solidFill>
                  <a:srgbClr val="000000"/>
                </a:solidFill>
              </a:rPr>
              <a:t>Calculates optimal Pareto trims (step down 800m, derate throttle 7%) to save both the engine and sortie.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960120"/>
            <a:ext cx="265176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Key Technical Pillars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325880"/>
            <a:ext cx="2651760" cy="118872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200"/>
              </a:spcAft>
              <a:defRPr b="1" sz="1250">
                <a:solidFill>
                  <a:srgbClr val="000000"/>
                </a:solidFill>
              </a:defRPr>
            </a:pPr>
            <a:r>
              <a:t>• Sensor Integrity Guard</a:t>
            </a:r>
          </a:p>
          <a:p>
            <a:pPr>
              <a:defRPr sz="1050">
                <a:solidFill>
                  <a:srgbClr val="000000"/>
                </a:solidFill>
              </a:defRPr>
            </a:pPr>
            <a:r>
              <a:t>Computes real-time Trust Index T in [0, 1] rejecting electrical drift, noise &amp; cyber-spoofing.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606039"/>
            <a:ext cx="2651760" cy="118872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200"/>
              </a:spcAft>
              <a:defRPr b="1" sz="1250">
                <a:solidFill>
                  <a:srgbClr val="000000"/>
                </a:solidFill>
              </a:defRPr>
            </a:pPr>
            <a:r>
              <a:t>• Personalized Engine DNA</a:t>
            </a:r>
          </a:p>
          <a:p>
            <a:pPr>
              <a:defRPr sz="1050">
                <a:solidFill>
                  <a:srgbClr val="000000"/>
                </a:solidFill>
              </a:defRPr>
            </a:pPr>
            <a:r>
              <a:t>Serial-number-calibrated wear tracking with anti-poisoning online calibration gating.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3886200"/>
            <a:ext cx="2651760" cy="118872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200"/>
              </a:spcAft>
              <a:defRPr b="1" sz="1250">
                <a:solidFill>
                  <a:srgbClr val="000000"/>
                </a:solidFill>
              </a:defRPr>
            </a:pPr>
            <a:r>
              <a:t>• 3-Way Disambiguation</a:t>
            </a:r>
          </a:p>
          <a:p>
            <a:pPr>
              <a:defRPr sz="1050">
                <a:solidFill>
                  <a:srgbClr val="000000"/>
                </a:solidFill>
              </a:defRPr>
            </a:pPr>
            <a:r>
              <a:t>Concurrently tests Physical Wear vs Sensor Fault vs Model Divergence with zero false aborts.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5166360"/>
            <a:ext cx="2651760" cy="118872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200"/>
              </a:spcAft>
              <a:defRPr b="1" sz="1250">
                <a:solidFill>
                  <a:srgbClr val="000000"/>
                </a:solidFill>
              </a:defRPr>
            </a:pPr>
            <a:r>
              <a:t>• Ensemble Quantile RUL</a:t>
            </a:r>
          </a:p>
          <a:p>
            <a:pPr>
              <a:defRPr sz="1050">
                <a:solidFill>
                  <a:srgbClr val="000000"/>
                </a:solidFill>
              </a:defRPr>
            </a:pPr>
            <a:r>
              <a:t>LSTM + Physics hybrid predicting Q10/Q50/Q90 flight envelopes with 29.3% variance cut.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256032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AERIS-TWIN</a:t>
            </a:r>
          </a:p>
          <a:p>
            <a:pPr>
              <a:defRPr sz="1100" b="1">
                <a:solidFill>
                  <a:srgbClr val="000000"/>
                </a:solidFill>
              </a:defRPr>
            </a:pPr>
            <a:r>
              <a:t>Defense UAV Prognostics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164592"/>
            <a:ext cx="621792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TECHNICAL APPROACH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28016"/>
            <a:ext cx="2011680" cy="9017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41248"/>
            <a:ext cx="1109441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3_technical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32688"/>
            <a:ext cx="1127729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256032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AERIS-TWIN</a:t>
            </a:r>
          </a:p>
          <a:p>
            <a:pPr>
              <a:defRPr sz="1100" b="1">
                <a:solidFill>
                  <a:srgbClr val="000000"/>
                </a:solidFill>
              </a:defRPr>
            </a:pPr>
            <a:r>
              <a:t>Defense UAV Prognostics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164592"/>
            <a:ext cx="621792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FEASIBILITY AND VIABILITY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28016"/>
            <a:ext cx="2011680" cy="9017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41248"/>
            <a:ext cx="1109441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10896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b="1" sz="1350">
                <a:solidFill>
                  <a:srgbClr val="000000"/>
                </a:solidFill>
              </a:defRPr>
            </a:pPr>
            <a:r>
              <a:t>Technical &amp; Edge Feasibility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Sub-2 ms Inference Latency: Runs on low-SWaP edge computers (Jetson Orin, Pi 4, MIL-STD avionics).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Zero Internet Dependency: Operates 100% locally in edge GCS or onboard compute during GPS denied sorties.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Deterministic Execution: 5 Hz telemetry loop with guaranteed 200 ms non-blocking cycle.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Avionics Bus Compatibility: Native support for Rotax CAN bus and ARINC-429 telemetry streams.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0" y="105156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46304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Legacy FADEC / DTC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AERIS-TWIN 3.0 System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Early Warning Lead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0 min (Post-failure)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5 to 15 min pre-alarm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False Alarm Aborts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12% - 18%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&lt; 1.5% (Disambiguated)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Maintenance Model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Static calendar hours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Condition-based dynamic TBO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Cost Savings / 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Baseline (Nil)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₹35–50 Lakhs per airframe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95360" y="1051560"/>
            <a:ext cx="3044952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b="1" sz="1350">
                <a:solidFill>
                  <a:srgbClr val="000000"/>
                </a:solidFill>
              </a:defRPr>
            </a:pPr>
            <a:r>
              <a:t>Safety &amp; Maintenance Feasibility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Certified Fail-Passive Logic: If digital twin confidence drops, OEM FADEC baseline operates unaltered.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Non-Intrusive Drop-In: Sniffs existing CAN telemetry without voiding airframe airworthiness warranties.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Automated Debrief Work Orders: Layer 19 produces ground crew maintenance work orders instantly on landing.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Tamper-Evident Black Box: 5 Hz ring buffer stores full incident replay for military flight safety 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108960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b="1" sz="1350">
                <a:solidFill>
                  <a:srgbClr val="000000"/>
                </a:solidFill>
              </a:defRPr>
            </a:pPr>
            <a:r>
              <a:t>Economic &amp; Operational Viability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Protects ₹25–40+ Cr Airframes: Prevents catastrophic in-flight engine seizure of DRDO TAPAS &amp; Rustom-II.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28% Higher Squadron Availability: Dynamic TBO eliminates unnecessary premature engine strip-downs.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ROI &gt; 350%: System cost recovered in first avoided mid-mission abort or extended overhaul cycle.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Operator Workload Reduction: Plain English NLP operational commands &amp; automated debriefs.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0" y="3794760"/>
          <a:ext cx="457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Support Element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Compute Architecture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x86-64, ARM64, Embedded Linux (&lt;2W SWaP-C)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Engine Compatibility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Rotax 914/915 iS, easily tuned to any aero piston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Certification Alignment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Designed to meet DO-178C (Software) &amp; DO-254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Fleet Scalability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Simultaneous squadron tracking (UAV-014 to 017)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Deployment Readiness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NASA C-MAPSS validated; ready for HIL test rig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595360" y="3794760"/>
            <a:ext cx="3044952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b="1" sz="1350">
                <a:solidFill>
                  <a:srgbClr val="000000"/>
                </a:solidFill>
              </a:defRPr>
            </a:pPr>
            <a:r>
              <a:t>Strategic &amp; National Viability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Atmanirbhar Bharat in Defence: Eliminates dependency on foreign propulsion OEM health diagnostics.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Border Persistence: Validated for Thar Desert (48°C) and Himalayan high-altitude (6,500m) surveillance.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Carbon &amp; Fuel Reduction: Counterfactual throttle/altitude trims cut fuel burn by 6-9% during sorties.</a:t>
            </a:r>
          </a:p>
          <a:p>
            <a:pPr>
              <a:spcAft>
                <a:spcPts val="300"/>
              </a:spcAft>
              <a:defRPr sz="1080">
                <a:solidFill>
                  <a:srgbClr val="000000"/>
                </a:solidFill>
              </a:defRPr>
            </a:pPr>
            <a:r>
              <a:t>• Tri-Services Scalability: Extensible to Indian Army, Navy, and Air Force unmanned surveillance wings.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256032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AERIS-TWIN</a:t>
            </a:r>
          </a:p>
          <a:p>
            <a:pPr>
              <a:defRPr sz="1100" b="1">
                <a:solidFill>
                  <a:srgbClr val="000000"/>
                </a:solidFill>
              </a:defRPr>
            </a:pPr>
            <a:r>
              <a:t>Defense UAV Prognostics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164592"/>
            <a:ext cx="621792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RESEARCH AND REFERENCES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28016"/>
            <a:ext cx="2011680" cy="9017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41248"/>
            <a:ext cx="1109441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5_tam_sam_s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4114800" cy="211728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051560"/>
            <a:ext cx="22402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TAM — Total Market</a:t>
            </a:r>
          </a:p>
          <a:p>
            <a:pPr>
              <a:spcAft>
                <a:spcPts val="400"/>
              </a:spcAft>
              <a:defRPr sz="950" b="1">
                <a:solidFill>
                  <a:srgbClr val="000000"/>
                </a:solidFill>
              </a:defRPr>
            </a:pPr>
            <a:r>
              <a:t>(Global &amp; Indian UAV Propulsion)</a:t>
            </a:r>
          </a:p>
          <a:p>
            <a:pPr>
              <a:defRPr b="1" sz="2000">
                <a:solidFill>
                  <a:srgbClr val="000000"/>
                </a:solidFill>
              </a:defRPr>
            </a:pPr>
            <a:r>
              <a:t>₹1,200 Cr</a:t>
            </a:r>
          </a:p>
          <a:p>
            <a:pPr>
              <a:spcAft>
                <a:spcPts val="400"/>
              </a:spcAft>
              <a:defRPr b="1" sz="1100">
                <a:solidFill>
                  <a:srgbClr val="000000"/>
                </a:solidFill>
              </a:defRPr>
            </a:pPr>
            <a:r>
              <a:t>$145 Million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Assuming 100% telemetry modernization across global military &amp; commercial UAVs.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5471" y="1051560"/>
            <a:ext cx="22402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SAM — Available Market</a:t>
            </a:r>
          </a:p>
          <a:p>
            <a:pPr>
              <a:spcAft>
                <a:spcPts val="400"/>
              </a:spcAft>
              <a:defRPr sz="950" b="1">
                <a:solidFill>
                  <a:srgbClr val="000000"/>
                </a:solidFill>
              </a:defRPr>
            </a:pPr>
            <a:r>
              <a:t>(Indian Tri-Services &amp; DRDO)</a:t>
            </a:r>
          </a:p>
          <a:p>
            <a:pPr>
              <a:defRPr b="1" sz="2000">
                <a:solidFill>
                  <a:srgbClr val="000000"/>
                </a:solidFill>
              </a:defRPr>
            </a:pPr>
            <a:r>
              <a:t>₹380 Cr</a:t>
            </a:r>
          </a:p>
          <a:p>
            <a:pPr>
              <a:spcAft>
                <a:spcPts val="400"/>
              </a:spcAft>
              <a:defRPr b="1" sz="1100">
                <a:solidFill>
                  <a:srgbClr val="000000"/>
                </a:solidFill>
              </a:defRPr>
            </a:pPr>
            <a:r>
              <a:t>$45 Million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Targeting Indian military UAV powerplants (TAPAS, Rustom-II, Archer, Heron).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18903" y="1051560"/>
            <a:ext cx="22402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SOM — Obtainable Market</a:t>
            </a:r>
          </a:p>
          <a:p>
            <a:pPr>
              <a:spcAft>
                <a:spcPts val="400"/>
              </a:spcAft>
              <a:defRPr sz="950" b="1">
                <a:solidFill>
                  <a:srgbClr val="000000"/>
                </a:solidFill>
              </a:defRPr>
            </a:pPr>
            <a:r>
              <a:t>(3-Year Near-Term Retrofit)</a:t>
            </a:r>
          </a:p>
          <a:p>
            <a:pPr>
              <a:defRPr b="1" sz="2000">
                <a:solidFill>
                  <a:srgbClr val="000000"/>
                </a:solidFill>
              </a:defRPr>
            </a:pPr>
            <a:r>
              <a:t>₹45 Cr</a:t>
            </a:r>
          </a:p>
          <a:p>
            <a:pPr>
              <a:spcAft>
                <a:spcPts val="400"/>
              </a:spcAft>
              <a:defRPr b="1" sz="1100">
                <a:solidFill>
                  <a:srgbClr val="000000"/>
                </a:solidFill>
              </a:defRPr>
            </a:pPr>
            <a:r>
              <a:t>$5.5 Million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Immediate retrofit across 100–150 active indigenous MALE UAVs (10-15% initial fleet).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6217920" cy="2880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b="1" sz="1300">
                <a:solidFill>
                  <a:srgbClr val="000000"/>
                </a:solidFill>
              </a:defRPr>
            </a:pPr>
            <a:r>
              <a:t>RESEARCH REFERENCES</a:t>
            </a:r>
          </a:p>
          <a:p>
            <a:pPr>
              <a:spcAft>
                <a:spcPts val="300"/>
              </a:spcAft>
              <a:defRPr sz="1019">
                <a:solidFill>
                  <a:srgbClr val="000000"/>
                </a:solidFill>
              </a:defRPr>
            </a:pPr>
            <a:r>
              <a:t>1) A. Saxena, K. Goebel, D. Simon and N. Eklund, 'Damage Propagation Modeling for Aircraft Engine Run-to-Failure Simulation', NASA Ames Research Center (NASA TM-2008-215379), 2008.</a:t>
            </a:r>
          </a:p>
          <a:p>
            <a:pPr>
              <a:spcAft>
                <a:spcPts val="300"/>
              </a:spcAft>
              <a:defRPr sz="1019">
                <a:solidFill>
                  <a:srgbClr val="000000"/>
                </a:solidFill>
              </a:defRPr>
            </a:pPr>
            <a:r>
              <a:t>2) N. Gebraeel, M. A. Lawley, R. Li and J. K. Ryan, 'Residual-Life Distributions from Component Degradation Signals', IEEE Transactions on Reliability, vol. 54, no. 4, pp. 532-541, 2005.</a:t>
            </a:r>
          </a:p>
          <a:p>
            <a:pPr>
              <a:spcAft>
                <a:spcPts val="300"/>
              </a:spcAft>
              <a:defRPr sz="1019">
                <a:solidFill>
                  <a:srgbClr val="000000"/>
                </a:solidFill>
              </a:defRPr>
            </a:pPr>
            <a:r>
              <a:t>3) S. M. Lundberg and S.-I. Lee, 'A Unified Approach to Interpreting Model Predictions (SHAP)', Advances in Neural Information Processing Systems (NeurIPS), 2017.</a:t>
            </a:r>
          </a:p>
          <a:p>
            <a:pPr>
              <a:spcAft>
                <a:spcPts val="300"/>
              </a:spcAft>
              <a:defRPr sz="1019">
                <a:solidFill>
                  <a:srgbClr val="000000"/>
                </a:solidFill>
              </a:defRPr>
            </a:pPr>
            <a:r>
              <a:t>4) Rotax Aircraft Engines, 'Operators Manual &amp; Maintenance Schedule for Rotax Engine Type 914 F and 915 iS Series', BRP-Rotax GmbH &amp; Co KG, 2024.</a:t>
            </a:r>
          </a:p>
          <a:p>
            <a:pPr>
              <a:spcAft>
                <a:spcPts val="300"/>
              </a:spcAft>
              <a:defRPr sz="1019">
                <a:solidFill>
                  <a:srgbClr val="000000"/>
                </a:solidFill>
              </a:defRPr>
            </a:pPr>
            <a:r>
              <a:t>5) NASA Prognostics Center of Excellence (PCoE), 'Turbofan Engine Degradation Simulation Data Set (C-MAPSS)', NASA Ames, Moffett Field, 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3657600"/>
            <a:ext cx="4690872" cy="2880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00000"/>
                </a:solidFill>
              </a:defRPr>
            </a:pPr>
            <a:r>
              <a:t>SYSTEM VERIFICATION &amp; DEMO LINKS</a:t>
            </a:r>
          </a:p>
          <a:p>
            <a:pPr>
              <a:spcAft>
                <a:spcPts val="300"/>
              </a:spcAft>
            </a:pPr>
            <a:r>
              <a:rPr b="1" sz="1080">
                <a:solidFill>
                  <a:srgbClr val="000000"/>
                </a:solidFill>
              </a:rPr>
              <a:t>1) System Technical Documentation: </a:t>
            </a:r>
            <a:r>
              <a:rPr sz="1019">
                <a:solidFill>
                  <a:srgbClr val="000000"/>
                </a:solidFill>
              </a:rPr>
              <a:t>Full 20-layer mathematical whitepaper &amp; equations</a:t>
            </a:r>
          </a:p>
          <a:p>
            <a:pPr>
              <a:spcAft>
                <a:spcPts val="300"/>
              </a:spcAft>
            </a:pPr>
            <a:r>
              <a:rPr b="1" sz="1080">
                <a:solidFill>
                  <a:srgbClr val="000000"/>
                </a:solidFill>
              </a:rPr>
              <a:t>2) NASA C-MAPSS Benchmark Suite: </a:t>
            </a:r>
            <a:r>
              <a:rPr sz="1019">
                <a:solidFill>
                  <a:srgbClr val="000000"/>
                </a:solidFill>
              </a:rPr>
              <a:t>Validation test scripts &amp; 29.3% variance reduction logs</a:t>
            </a:r>
          </a:p>
          <a:p>
            <a:pPr>
              <a:spcAft>
                <a:spcPts val="300"/>
              </a:spcAft>
            </a:pPr>
            <a:r>
              <a:rPr b="1" sz="1080">
                <a:solidFill>
                  <a:srgbClr val="000000"/>
                </a:solidFill>
              </a:rPr>
              <a:t>3) Interactive 3D Digital Twin HUD: </a:t>
            </a:r>
            <a:r>
              <a:rPr sz="1019">
                <a:solidFill>
                  <a:srgbClr val="000000"/>
                </a:solidFill>
              </a:rPr>
              <a:t>React 18 + Three.js 60 FPS real-time cockpit demo</a:t>
            </a:r>
          </a:p>
          <a:p>
            <a:pPr>
              <a:spcAft>
                <a:spcPts val="300"/>
              </a:spcAft>
            </a:pPr>
            <a:r>
              <a:rPr b="1" sz="1080">
                <a:solidFill>
                  <a:srgbClr val="000000"/>
                </a:solidFill>
              </a:rPr>
              <a:t>4) Hardware-in-the-Loop (HIL) Rig: </a:t>
            </a:r>
            <a:r>
              <a:rPr sz="1019">
                <a:solidFill>
                  <a:srgbClr val="000000"/>
                </a:solidFill>
              </a:rPr>
              <a:t>Rotax 914 CAN bus emulator &amp; sensor injection</a:t>
            </a:r>
          </a:p>
          <a:p>
            <a:pPr>
              <a:spcAft>
                <a:spcPts val="300"/>
              </a:spcAft>
            </a:pPr>
            <a:r>
              <a:rPr b="1" sz="1080">
                <a:solidFill>
                  <a:srgbClr val="000000"/>
                </a:solidFill>
              </a:rPr>
              <a:t>5) 2-Minute Operational Video: </a:t>
            </a:r>
            <a:r>
              <a:rPr sz="1019">
                <a:solidFill>
                  <a:srgbClr val="000000"/>
                </a:solidFill>
              </a:rPr>
              <a:t>Sortie simulation showing in-flight counterfactual trim</a:t>
            </a:r>
          </a:p>
          <a:p>
            <a:pPr>
              <a:spcAft>
                <a:spcPts val="300"/>
              </a:spcAft>
            </a:pPr>
            <a:r>
              <a:rPr b="1" sz="1080">
                <a:solidFill>
                  <a:srgbClr val="000000"/>
                </a:solidFill>
              </a:rPr>
              <a:t>6) Flight Black Box Telemetry Store: </a:t>
            </a:r>
            <a:r>
              <a:rPr sz="1019">
                <a:solidFill>
                  <a:srgbClr val="000000"/>
                </a:solidFill>
              </a:rPr>
              <a:t>SQLite WAL database schema &amp; audit replay logs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